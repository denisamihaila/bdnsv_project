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9ad6af89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9ad6af89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9ad6af89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9ad6af89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9ad6af89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9ad6af89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9ad6af89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b9ad6af89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9ad6af89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b9ad6af89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9ad6af89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9ad6af89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9ad6af89b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b9ad6af89b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9ad6af89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b9ad6af89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9ad6af89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b9ad6af89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280700" y="1546700"/>
            <a:ext cx="6582600" cy="14481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b="1" lang="ro" sz="1800">
                <a:solidFill>
                  <a:srgbClr val="000000"/>
                </a:solidFill>
                <a:latin typeface="Arial"/>
                <a:ea typeface="Arial"/>
                <a:cs typeface="Arial"/>
                <a:sym typeface="Arial"/>
              </a:rPr>
              <a:t>PROIECT</a:t>
            </a:r>
            <a:endParaRPr b="1" sz="1800">
              <a:solidFill>
                <a:srgbClr val="000000"/>
              </a:solidFill>
              <a:latin typeface="Arial"/>
              <a:ea typeface="Arial"/>
              <a:cs typeface="Arial"/>
              <a:sym typeface="Arial"/>
            </a:endParaRPr>
          </a:p>
          <a:p>
            <a:pPr indent="0" lvl="0" marL="0" rtl="0" algn="ctr">
              <a:lnSpc>
                <a:spcPct val="115000"/>
              </a:lnSpc>
              <a:spcBef>
                <a:spcPts val="0"/>
              </a:spcBef>
              <a:spcAft>
                <a:spcPts val="0"/>
              </a:spcAft>
              <a:buNone/>
            </a:pPr>
            <a:r>
              <a:rPr b="1" lang="ro" sz="1600">
                <a:solidFill>
                  <a:srgbClr val="000000"/>
                </a:solidFill>
                <a:latin typeface="Arial"/>
                <a:ea typeface="Arial"/>
                <a:cs typeface="Arial"/>
                <a:sym typeface="Arial"/>
              </a:rPr>
              <a:t>~ Baze de date, de la NoSql la Vector DBs ~</a:t>
            </a:r>
            <a:endParaRPr b="1" sz="1600">
              <a:solidFill>
                <a:srgbClr val="000000"/>
              </a:solidFill>
              <a:latin typeface="Arial"/>
              <a:ea typeface="Arial"/>
              <a:cs typeface="Arial"/>
              <a:sym typeface="Arial"/>
            </a:endParaRPr>
          </a:p>
          <a:p>
            <a:pPr indent="0" lvl="0" marL="0" rtl="0" algn="ctr">
              <a:lnSpc>
                <a:spcPct val="115000"/>
              </a:lnSpc>
              <a:spcBef>
                <a:spcPts val="0"/>
              </a:spcBef>
              <a:spcAft>
                <a:spcPts val="0"/>
              </a:spcAft>
              <a:buNone/>
            </a:pPr>
            <a:r>
              <a:t/>
            </a:r>
            <a:endParaRPr b="1" sz="1600">
              <a:solidFill>
                <a:srgbClr val="000000"/>
              </a:solidFill>
              <a:latin typeface="Arial"/>
              <a:ea typeface="Arial"/>
              <a:cs typeface="Arial"/>
              <a:sym typeface="Arial"/>
            </a:endParaRPr>
          </a:p>
          <a:p>
            <a:pPr indent="0" lvl="0" marL="12700" rtl="0" algn="ctr">
              <a:lnSpc>
                <a:spcPct val="115000"/>
              </a:lnSpc>
              <a:spcBef>
                <a:spcPts val="0"/>
              </a:spcBef>
              <a:spcAft>
                <a:spcPts val="400"/>
              </a:spcAft>
              <a:buNone/>
            </a:pPr>
            <a:r>
              <a:rPr b="1" lang="ro" sz="2100">
                <a:solidFill>
                  <a:srgbClr val="000000"/>
                </a:solidFill>
                <a:latin typeface="Arial"/>
                <a:ea typeface="Arial"/>
                <a:cs typeface="Arial"/>
                <a:sym typeface="Arial"/>
              </a:rPr>
              <a:t>T4 – Caching and Data Acceleration with Redis</a:t>
            </a:r>
            <a:endParaRPr sz="4000"/>
          </a:p>
        </p:txBody>
      </p:sp>
      <p:sp>
        <p:nvSpPr>
          <p:cNvPr id="129" name="Google Shape;129;p13"/>
          <p:cNvSpPr txBox="1"/>
          <p:nvPr>
            <p:ph idx="1" type="subTitle"/>
          </p:nvPr>
        </p:nvSpPr>
        <p:spPr>
          <a:xfrm>
            <a:off x="3596975" y="3196125"/>
            <a:ext cx="4477200" cy="5226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SzPts val="935"/>
              <a:buNone/>
            </a:pPr>
            <a:r>
              <a:rPr lang="ro" sz="1305">
                <a:solidFill>
                  <a:srgbClr val="000000"/>
                </a:solidFill>
                <a:latin typeface="Arial"/>
                <a:ea typeface="Arial"/>
                <a:cs typeface="Arial"/>
                <a:sym typeface="Arial"/>
              </a:rPr>
              <a:t> Proiect realizat de: Mihăilă Denisa, Grupa 352</a:t>
            </a:r>
            <a:endParaRPr sz="1305">
              <a:solidFill>
                <a:srgbClr val="000000"/>
              </a:solidFill>
              <a:latin typeface="Arial"/>
              <a:ea typeface="Arial"/>
              <a:cs typeface="Arial"/>
              <a:sym typeface="Arial"/>
            </a:endParaRPr>
          </a:p>
          <a:p>
            <a:pPr indent="0" lvl="0" marL="0" rtl="0" algn="ctr">
              <a:lnSpc>
                <a:spcPct val="95000"/>
              </a:lnSpc>
              <a:spcBef>
                <a:spcPts val="0"/>
              </a:spcBef>
              <a:spcAft>
                <a:spcPts val="0"/>
              </a:spcAft>
              <a:buSzPts val="935"/>
              <a:buNone/>
            </a:pPr>
            <a:r>
              <a:rPr lang="ro" sz="1305">
                <a:solidFill>
                  <a:srgbClr val="000000"/>
                </a:solidFill>
                <a:latin typeface="Arial"/>
                <a:ea typeface="Arial"/>
                <a:cs typeface="Arial"/>
                <a:sym typeface="Arial"/>
              </a:rPr>
              <a:t>                                         Nițe Dan-Alexandru, Grupa 344</a:t>
            </a:r>
            <a:endParaRPr sz="1560"/>
          </a:p>
        </p:txBody>
      </p:sp>
      <p:sp>
        <p:nvSpPr>
          <p:cNvPr id="130" name="Google Shape;130;p13"/>
          <p:cNvSpPr txBox="1"/>
          <p:nvPr/>
        </p:nvSpPr>
        <p:spPr>
          <a:xfrm>
            <a:off x="3072000" y="328325"/>
            <a:ext cx="3000000" cy="743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ro" sz="1100">
                <a:solidFill>
                  <a:srgbClr val="999999"/>
                </a:solidFill>
              </a:rPr>
              <a:t>Universitatea din București</a:t>
            </a:r>
            <a:br>
              <a:rPr lang="ro" sz="1100">
                <a:solidFill>
                  <a:srgbClr val="999999"/>
                </a:solidFill>
              </a:rPr>
            </a:br>
            <a:r>
              <a:rPr lang="ro" sz="1100">
                <a:solidFill>
                  <a:srgbClr val="999999"/>
                </a:solidFill>
              </a:rPr>
              <a:t>Facultatea de Matematică și Informatică</a:t>
            </a:r>
            <a:br>
              <a:rPr lang="ro" sz="1100">
                <a:solidFill>
                  <a:srgbClr val="999999"/>
                </a:solidFill>
              </a:rPr>
            </a:br>
            <a:r>
              <a:rPr lang="ro" sz="1100">
                <a:solidFill>
                  <a:srgbClr val="999999"/>
                </a:solidFill>
              </a:rPr>
              <a:t>Anul Universitar 2025-2026</a:t>
            </a:r>
            <a:endParaRPr sz="1100">
              <a:solidFill>
                <a:srgbClr val="9999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819150" y="325775"/>
            <a:ext cx="7406700" cy="650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o"/>
              <a:t>Tema Proiectului: Strategii de Caching în contextul unei platforme de tip E-commerce</a:t>
            </a:r>
            <a:endParaRPr/>
          </a:p>
        </p:txBody>
      </p:sp>
      <p:sp>
        <p:nvSpPr>
          <p:cNvPr id="136" name="Google Shape;136;p14"/>
          <p:cNvSpPr txBox="1"/>
          <p:nvPr>
            <p:ph idx="1" type="body"/>
          </p:nvPr>
        </p:nvSpPr>
        <p:spPr>
          <a:xfrm>
            <a:off x="819150" y="1461274"/>
            <a:ext cx="7505700" cy="30879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Obiectivul principal:</a:t>
            </a:r>
            <a:r>
              <a:rPr lang="ro" sz="1400">
                <a:solidFill>
                  <a:srgbClr val="000000"/>
                </a:solidFill>
                <a:latin typeface="Arial"/>
                <a:ea typeface="Arial"/>
                <a:cs typeface="Arial"/>
                <a:sym typeface="Arial"/>
              </a:rPr>
              <a:t> implementarea unei arhitecturi software, capabilă să optimizeze performanța interogărilor, să gestioneze volume mari de date și să reducă solicitarea bazei de date principale a unei platforme de tip </a:t>
            </a:r>
            <a:r>
              <a:rPr b="1" lang="ro" sz="1400">
                <a:solidFill>
                  <a:srgbClr val="000000"/>
                </a:solidFill>
                <a:latin typeface="Arial"/>
                <a:ea typeface="Arial"/>
                <a:cs typeface="Arial"/>
                <a:sym typeface="Arial"/>
              </a:rPr>
              <a:t>E-commerce</a:t>
            </a:r>
            <a:r>
              <a:rPr lang="ro" sz="1400">
                <a:solidFill>
                  <a:srgbClr val="000000"/>
                </a:solidFill>
                <a:latin typeface="Arial"/>
                <a:ea typeface="Arial"/>
                <a:cs typeface="Arial"/>
                <a:sym typeface="Arial"/>
              </a:rPr>
              <a:t>, mai exact un Magazin de Cadouri - ”DENEX”.</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Problema adresată: </a:t>
            </a:r>
            <a:r>
              <a:rPr lang="ro" sz="1400">
                <a:solidFill>
                  <a:srgbClr val="000000"/>
                </a:solidFill>
                <a:latin typeface="Arial"/>
                <a:ea typeface="Arial"/>
                <a:cs typeface="Arial"/>
                <a:sym typeface="Arial"/>
              </a:rPr>
              <a:t>Interogările directe către baza de date persistentă, aflată pe disk, devin ineficiente în scenarii cu trafic intens sau arhitecturi distribuite (Cloud)</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Soluția:</a:t>
            </a:r>
            <a:r>
              <a:rPr lang="ro" sz="1400">
                <a:solidFill>
                  <a:srgbClr val="000000"/>
                </a:solidFill>
                <a:latin typeface="Arial"/>
                <a:ea typeface="Arial"/>
                <a:cs typeface="Arial"/>
                <a:sym typeface="Arial"/>
              </a:rPr>
              <a:t> Integrarea unui strat de stocare ”In-Memory” (Redis)  cu o baza de date persistentă NoSQL (MongoDB)</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ro" sz="1400">
                <a:solidFill>
                  <a:srgbClr val="000000"/>
                </a:solidFill>
                <a:latin typeface="Arial"/>
                <a:ea typeface="Arial"/>
                <a:cs typeface="Arial"/>
                <a:sym typeface="Arial"/>
              </a:rPr>
              <a:t>Scopul analizei:</a:t>
            </a:r>
            <a:r>
              <a:rPr lang="ro" sz="1400">
                <a:solidFill>
                  <a:srgbClr val="000000"/>
                </a:solidFill>
                <a:latin typeface="Arial"/>
                <a:ea typeface="Arial"/>
                <a:cs typeface="Arial"/>
                <a:sym typeface="Arial"/>
              </a:rPr>
              <a:t> Compararea a trei strategii de caching (Cache-Aside, Write-Through, Write-Behind) pentru a demonstra compromisurile între consistența datelor și viteza de procesare.</a:t>
            </a:r>
            <a:endParaRPr sz="14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284925" y="223050"/>
            <a:ext cx="3671700" cy="675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o"/>
              <a:t>Arhitectura Sistemului și Tehnologii</a:t>
            </a:r>
            <a:endParaRPr/>
          </a:p>
        </p:txBody>
      </p:sp>
      <p:sp>
        <p:nvSpPr>
          <p:cNvPr id="142" name="Google Shape;142;p15"/>
          <p:cNvSpPr txBox="1"/>
          <p:nvPr>
            <p:ph idx="1" type="body"/>
          </p:nvPr>
        </p:nvSpPr>
        <p:spPr>
          <a:xfrm>
            <a:off x="216700" y="1088050"/>
            <a:ext cx="3967200" cy="3130800"/>
          </a:xfrm>
          <a:prstGeom prst="rect">
            <a:avLst/>
          </a:prstGeom>
        </p:spPr>
        <p:txBody>
          <a:bodyPr anchorCtr="0" anchor="t" bIns="91425" lIns="91425" spcFirstLastPara="1" rIns="91425" wrap="square" tIns="91425">
            <a:normAutofit lnSpcReduction="20000"/>
          </a:bodyPr>
          <a:lstStyle/>
          <a:p>
            <a:pPr indent="-311150" lvl="0" marL="457200" rtl="0" algn="l">
              <a:spcBef>
                <a:spcPts val="0"/>
              </a:spcBef>
              <a:spcAft>
                <a:spcPts val="0"/>
              </a:spcAft>
              <a:buSzPts val="1300"/>
              <a:buChar char="●"/>
            </a:pPr>
            <a:r>
              <a:rPr lang="ro">
                <a:latin typeface="Arial"/>
                <a:ea typeface="Arial"/>
                <a:cs typeface="Arial"/>
                <a:sym typeface="Arial"/>
              </a:rPr>
              <a:t>Întregul mediu este izolat și gestionat prin </a:t>
            </a:r>
            <a:r>
              <a:rPr b="1" lang="ro">
                <a:latin typeface="Arial"/>
                <a:ea typeface="Arial"/>
                <a:cs typeface="Arial"/>
                <a:sym typeface="Arial"/>
              </a:rPr>
              <a:t>Docker</a:t>
            </a:r>
            <a:r>
              <a:rPr lang="ro">
                <a:latin typeface="Arial"/>
                <a:ea typeface="Arial"/>
                <a:cs typeface="Arial"/>
                <a:sym typeface="Arial"/>
              </a:rPr>
              <a:t>, containerele fiind definite în </a:t>
            </a:r>
            <a:r>
              <a:rPr i="1" lang="ro">
                <a:latin typeface="Arial"/>
                <a:ea typeface="Arial"/>
                <a:cs typeface="Arial"/>
                <a:sym typeface="Arial"/>
              </a:rPr>
              <a:t>docker-compose.yml</a:t>
            </a:r>
            <a:r>
              <a:rPr lang="ro">
                <a:latin typeface="Arial"/>
                <a:ea typeface="Arial"/>
                <a:cs typeface="Arial"/>
                <a:sym typeface="Arial"/>
              </a:rPr>
              <a:t>.</a:t>
            </a:r>
            <a:endParaRPr>
              <a:latin typeface="Arial"/>
              <a:ea typeface="Arial"/>
              <a:cs typeface="Arial"/>
              <a:sym typeface="Arial"/>
            </a:endParaRPr>
          </a:p>
          <a:p>
            <a:pPr indent="0" lvl="0" marL="0" rtl="0" algn="l">
              <a:spcBef>
                <a:spcPts val="1200"/>
              </a:spcBef>
              <a:spcAft>
                <a:spcPts val="0"/>
              </a:spcAft>
              <a:buNone/>
            </a:pPr>
            <a:r>
              <a:rPr b="1" lang="ro">
                <a:latin typeface="Arial"/>
                <a:ea typeface="Arial"/>
                <a:cs typeface="Arial"/>
                <a:sym typeface="Arial"/>
              </a:rPr>
              <a:t>Componentele Sistemului:</a:t>
            </a:r>
            <a:endParaRPr b="1">
              <a:latin typeface="Arial"/>
              <a:ea typeface="Arial"/>
              <a:cs typeface="Arial"/>
              <a:sym typeface="Arial"/>
            </a:endParaRPr>
          </a:p>
          <a:p>
            <a:pPr indent="-311150" lvl="0" marL="457200" rtl="0" algn="l">
              <a:spcBef>
                <a:spcPts val="1200"/>
              </a:spcBef>
              <a:spcAft>
                <a:spcPts val="0"/>
              </a:spcAft>
              <a:buSzPts val="1300"/>
              <a:buChar char="●"/>
            </a:pPr>
            <a:r>
              <a:rPr b="1" lang="ro" sz="1100">
                <a:solidFill>
                  <a:srgbClr val="000000"/>
                </a:solidFill>
                <a:latin typeface="Arial"/>
                <a:ea typeface="Arial"/>
                <a:cs typeface="Arial"/>
                <a:sym typeface="Arial"/>
              </a:rPr>
              <a:t>Nivelul de Aplicație:</a:t>
            </a:r>
            <a:r>
              <a:rPr lang="ro" sz="1100">
                <a:solidFill>
                  <a:srgbClr val="000000"/>
                </a:solidFill>
                <a:latin typeface="Arial"/>
                <a:ea typeface="Arial"/>
                <a:cs typeface="Arial"/>
                <a:sym typeface="Arial"/>
              </a:rPr>
              <a:t> Python 3.13 + FastAPI (Asynchronous Web Framework) + Uvicorn server. Gestionează logica de business și strategiile de caching.</a:t>
            </a:r>
            <a:endParaRPr sz="1100">
              <a:solidFill>
                <a:srgbClr val="000000"/>
              </a:solidFill>
              <a:latin typeface="Arial"/>
              <a:ea typeface="Arial"/>
              <a:cs typeface="Arial"/>
              <a:sym typeface="Arial"/>
            </a:endParaRPr>
          </a:p>
          <a:p>
            <a:pPr indent="-311150" lvl="0" marL="457200" rtl="0" algn="l">
              <a:spcBef>
                <a:spcPts val="0"/>
              </a:spcBef>
              <a:spcAft>
                <a:spcPts val="0"/>
              </a:spcAft>
              <a:buSzPts val="1300"/>
              <a:buChar char="●"/>
            </a:pPr>
            <a:r>
              <a:rPr b="1" lang="ro" sz="1100">
                <a:solidFill>
                  <a:srgbClr val="000000"/>
                </a:solidFill>
                <a:latin typeface="Arial"/>
                <a:ea typeface="Arial"/>
                <a:cs typeface="Arial"/>
                <a:sym typeface="Arial"/>
              </a:rPr>
              <a:t>Nivelul de Cache:</a:t>
            </a: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Redis</a:t>
            </a:r>
            <a:r>
              <a:rPr lang="ro" sz="1100">
                <a:solidFill>
                  <a:srgbClr val="000000"/>
                </a:solidFill>
                <a:latin typeface="Arial"/>
                <a:ea typeface="Arial"/>
                <a:cs typeface="Arial"/>
                <a:sym typeface="Arial"/>
              </a:rPr>
              <a:t> configurat cu limita de memorie de 300MB și politica de evacuare </a:t>
            </a:r>
            <a:r>
              <a:rPr i="1" lang="ro" sz="1100">
                <a:solidFill>
                  <a:srgbClr val="000000"/>
                </a:solidFill>
                <a:latin typeface="Arial"/>
                <a:ea typeface="Arial"/>
                <a:cs typeface="Arial"/>
                <a:sym typeface="Arial"/>
              </a:rPr>
              <a:t>allkeys-lru</a:t>
            </a:r>
            <a:r>
              <a:rPr lang="ro"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311150" lvl="0" marL="457200" rtl="0" algn="l">
              <a:spcBef>
                <a:spcPts val="0"/>
              </a:spcBef>
              <a:spcAft>
                <a:spcPts val="0"/>
              </a:spcAft>
              <a:buSzPts val="1300"/>
              <a:buChar char="●"/>
            </a:pPr>
            <a:r>
              <a:rPr b="1" lang="ro" sz="1100">
                <a:solidFill>
                  <a:srgbClr val="000000"/>
                </a:solidFill>
                <a:latin typeface="Arial"/>
                <a:ea typeface="Arial"/>
                <a:cs typeface="Arial"/>
                <a:sym typeface="Arial"/>
              </a:rPr>
              <a:t>Nivelul de Persistență:</a:t>
            </a: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MongoDB</a:t>
            </a:r>
            <a:r>
              <a:rPr lang="ro" sz="1100">
                <a:solidFill>
                  <a:srgbClr val="000000"/>
                </a:solidFill>
                <a:latin typeface="Arial"/>
                <a:ea typeface="Arial"/>
                <a:cs typeface="Arial"/>
                <a:sym typeface="Arial"/>
              </a:rPr>
              <a:t> pentru stocarea permanentă a documentelor JSON.</a:t>
            </a:r>
            <a:endParaRPr sz="1100">
              <a:solidFill>
                <a:srgbClr val="000000"/>
              </a:solidFill>
              <a:latin typeface="Arial"/>
              <a:ea typeface="Arial"/>
              <a:cs typeface="Arial"/>
              <a:sym typeface="Arial"/>
            </a:endParaRPr>
          </a:p>
          <a:p>
            <a:pPr indent="-311150" lvl="0" marL="457200" rtl="0" algn="l">
              <a:spcBef>
                <a:spcPts val="0"/>
              </a:spcBef>
              <a:spcAft>
                <a:spcPts val="0"/>
              </a:spcAft>
              <a:buSzPts val="1300"/>
              <a:buChar char="●"/>
            </a:pPr>
            <a:r>
              <a:rPr b="1" lang="ro" sz="1100">
                <a:solidFill>
                  <a:srgbClr val="000000"/>
                </a:solidFill>
                <a:latin typeface="Arial"/>
                <a:ea typeface="Arial"/>
                <a:cs typeface="Arial"/>
                <a:sym typeface="Arial"/>
              </a:rPr>
              <a:t>Monitorizare:</a:t>
            </a:r>
            <a:r>
              <a:rPr lang="ro" sz="1100">
                <a:solidFill>
                  <a:srgbClr val="000000"/>
                </a:solidFill>
                <a:latin typeface="Arial"/>
                <a:ea typeface="Arial"/>
                <a:cs typeface="Arial"/>
                <a:sym typeface="Arial"/>
              </a:rPr>
              <a:t> </a:t>
            </a:r>
            <a:r>
              <a:rPr b="1" lang="ro" sz="1100">
                <a:solidFill>
                  <a:srgbClr val="000000"/>
                </a:solidFill>
                <a:latin typeface="Arial"/>
                <a:ea typeface="Arial"/>
                <a:cs typeface="Arial"/>
                <a:sym typeface="Arial"/>
              </a:rPr>
              <a:t>Redis Commander</a:t>
            </a:r>
            <a:r>
              <a:rPr lang="ro" sz="1100">
                <a:solidFill>
                  <a:srgbClr val="000000"/>
                </a:solidFill>
                <a:latin typeface="Arial"/>
                <a:ea typeface="Arial"/>
                <a:cs typeface="Arial"/>
                <a:sym typeface="Arial"/>
              </a:rPr>
              <a:t> pentru vizualizarea structurilor de date în timp real</a:t>
            </a:r>
            <a:endParaRPr b="1">
              <a:latin typeface="Arial"/>
              <a:ea typeface="Arial"/>
              <a:cs typeface="Arial"/>
              <a:sym typeface="Arial"/>
            </a:endParaRPr>
          </a:p>
        </p:txBody>
      </p:sp>
      <p:pic>
        <p:nvPicPr>
          <p:cNvPr id="143" name="Google Shape;143;p15"/>
          <p:cNvPicPr preferRelativeResize="0"/>
          <p:nvPr/>
        </p:nvPicPr>
        <p:blipFill>
          <a:blip r:embed="rId3">
            <a:alphaModFix/>
          </a:blip>
          <a:stretch>
            <a:fillRect/>
          </a:stretch>
        </p:blipFill>
        <p:spPr>
          <a:xfrm>
            <a:off x="4488375" y="223050"/>
            <a:ext cx="4424774" cy="2348700"/>
          </a:xfrm>
          <a:prstGeom prst="rect">
            <a:avLst/>
          </a:prstGeom>
          <a:noFill/>
          <a:ln>
            <a:noFill/>
          </a:ln>
        </p:spPr>
      </p:pic>
      <p:sp>
        <p:nvSpPr>
          <p:cNvPr id="144" name="Google Shape;144;p15"/>
          <p:cNvSpPr txBox="1"/>
          <p:nvPr/>
        </p:nvSpPr>
        <p:spPr>
          <a:xfrm>
            <a:off x="4322350" y="2294850"/>
            <a:ext cx="4756800" cy="276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ro" sz="600"/>
              <a:t>Interfața Swagger UI (FastAPI) expunând endpoint-urile REST pentru gestionarea produselor și testarea strategiilor de caching.</a:t>
            </a:r>
            <a:endParaRPr sz="900"/>
          </a:p>
        </p:txBody>
      </p:sp>
      <p:pic>
        <p:nvPicPr>
          <p:cNvPr id="145" name="Google Shape;145;p15"/>
          <p:cNvPicPr preferRelativeResize="0"/>
          <p:nvPr/>
        </p:nvPicPr>
        <p:blipFill>
          <a:blip r:embed="rId4">
            <a:alphaModFix/>
          </a:blip>
          <a:stretch>
            <a:fillRect/>
          </a:stretch>
        </p:blipFill>
        <p:spPr>
          <a:xfrm>
            <a:off x="4487708" y="2516299"/>
            <a:ext cx="4425443" cy="2348700"/>
          </a:xfrm>
          <a:prstGeom prst="rect">
            <a:avLst/>
          </a:prstGeom>
          <a:noFill/>
          <a:ln>
            <a:noFill/>
          </a:ln>
        </p:spPr>
      </p:pic>
      <p:sp>
        <p:nvSpPr>
          <p:cNvPr id="146" name="Google Shape;146;p15"/>
          <p:cNvSpPr txBox="1"/>
          <p:nvPr/>
        </p:nvSpPr>
        <p:spPr>
          <a:xfrm>
            <a:off x="4183900" y="4763800"/>
            <a:ext cx="4915800" cy="276900"/>
          </a:xfrm>
          <a:prstGeom prst="rect">
            <a:avLst/>
          </a:prstGeom>
          <a:noFill/>
          <a:ln>
            <a:noFill/>
          </a:ln>
        </p:spPr>
        <p:txBody>
          <a:bodyPr anchorCtr="0" anchor="t" bIns="91425" lIns="91425" spcFirstLastPara="1" rIns="91425" wrap="square" tIns="91425">
            <a:spAutoFit/>
          </a:bodyPr>
          <a:lstStyle/>
          <a:p>
            <a:pPr indent="457200" lvl="0" marL="0" rtl="0" algn="ctr">
              <a:lnSpc>
                <a:spcPct val="115000"/>
              </a:lnSpc>
              <a:spcBef>
                <a:spcPts val="0"/>
              </a:spcBef>
              <a:spcAft>
                <a:spcPts val="0"/>
              </a:spcAft>
              <a:buNone/>
            </a:pPr>
            <a:r>
              <a:rPr i="1" lang="ro" sz="600"/>
              <a:t>Panoul de control Redis Commander, utilizat pentru monitorizarea cheilor și a structurilor de date stocate în memorie.</a:t>
            </a:r>
            <a:endParaRPr sz="900"/>
          </a:p>
        </p:txBody>
      </p:sp>
      <p:pic>
        <p:nvPicPr>
          <p:cNvPr id="147" name="Google Shape;147;p15"/>
          <p:cNvPicPr preferRelativeResize="0"/>
          <p:nvPr/>
        </p:nvPicPr>
        <p:blipFill>
          <a:blip r:embed="rId5">
            <a:alphaModFix/>
          </a:blip>
          <a:stretch>
            <a:fillRect/>
          </a:stretch>
        </p:blipFill>
        <p:spPr>
          <a:xfrm>
            <a:off x="216700" y="4210419"/>
            <a:ext cx="4271001" cy="533081"/>
          </a:xfrm>
          <a:prstGeom prst="rect">
            <a:avLst/>
          </a:prstGeom>
          <a:noFill/>
          <a:ln>
            <a:noFill/>
          </a:ln>
        </p:spPr>
      </p:pic>
      <p:sp>
        <p:nvSpPr>
          <p:cNvPr id="148" name="Google Shape;148;p15"/>
          <p:cNvSpPr txBox="1"/>
          <p:nvPr/>
        </p:nvSpPr>
        <p:spPr>
          <a:xfrm>
            <a:off x="762625" y="4690875"/>
            <a:ext cx="3000000" cy="292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i="1" lang="ro" sz="700"/>
              <a:t>Containerele active afișate în terminal prin comanda docker ps.</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76025" y="137325"/>
            <a:ext cx="4578300" cy="619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o"/>
              <a:t>Strategia 1 - Cache-Aside</a:t>
            </a:r>
            <a:endParaRPr/>
          </a:p>
        </p:txBody>
      </p:sp>
      <p:sp>
        <p:nvSpPr>
          <p:cNvPr id="154" name="Google Shape;154;p16"/>
          <p:cNvSpPr txBox="1"/>
          <p:nvPr>
            <p:ph idx="1" type="body"/>
          </p:nvPr>
        </p:nvSpPr>
        <p:spPr>
          <a:xfrm>
            <a:off x="249275" y="667575"/>
            <a:ext cx="2934300" cy="3907800"/>
          </a:xfrm>
          <a:prstGeom prst="rect">
            <a:avLst/>
          </a:prstGeom>
        </p:spPr>
        <p:txBody>
          <a:bodyPr anchorCtr="0" anchor="t" bIns="91425" lIns="91425" spcFirstLastPara="1" rIns="91425" wrap="square" tIns="91425">
            <a:normAutofit/>
          </a:bodyPr>
          <a:lstStyle/>
          <a:p>
            <a:pPr indent="-298608" lvl="0" marL="457200" rtl="0" algn="l">
              <a:lnSpc>
                <a:spcPct val="105000"/>
              </a:lnSpc>
              <a:spcBef>
                <a:spcPts val="0"/>
              </a:spcBef>
              <a:spcAft>
                <a:spcPts val="0"/>
              </a:spcAft>
              <a:buSzPts val="1103"/>
              <a:buFont typeface="Arial"/>
              <a:buChar char="●"/>
            </a:pPr>
            <a:r>
              <a:rPr lang="ro" sz="1102">
                <a:latin typeface="Arial"/>
                <a:ea typeface="Arial"/>
                <a:cs typeface="Arial"/>
                <a:sym typeface="Arial"/>
              </a:rPr>
              <a:t>Strategia fundamentală pentru optimizarea citirii detaliilor produselor (GET /products/{id}).</a:t>
            </a:r>
            <a:endParaRPr sz="1102">
              <a:latin typeface="Arial"/>
              <a:ea typeface="Arial"/>
              <a:cs typeface="Arial"/>
              <a:sym typeface="Arial"/>
            </a:endParaRPr>
          </a:p>
          <a:p>
            <a:pPr indent="0" lvl="0" marL="0" rtl="0" algn="l">
              <a:lnSpc>
                <a:spcPct val="105000"/>
              </a:lnSpc>
              <a:spcBef>
                <a:spcPts val="1200"/>
              </a:spcBef>
              <a:spcAft>
                <a:spcPts val="0"/>
              </a:spcAft>
              <a:buSzPts val="1018"/>
              <a:buNone/>
            </a:pPr>
            <a:r>
              <a:rPr b="1" lang="ro" sz="1102">
                <a:latin typeface="Arial"/>
                <a:ea typeface="Arial"/>
                <a:cs typeface="Arial"/>
                <a:sym typeface="Arial"/>
              </a:rPr>
              <a:t>Fluxul de Execuție:</a:t>
            </a:r>
            <a:br>
              <a:rPr lang="ro" sz="1102">
                <a:latin typeface="Arial"/>
                <a:ea typeface="Arial"/>
                <a:cs typeface="Arial"/>
                <a:sym typeface="Arial"/>
              </a:rPr>
            </a:br>
            <a:r>
              <a:rPr lang="ro" sz="1102">
                <a:latin typeface="Arial"/>
                <a:ea typeface="Arial"/>
                <a:cs typeface="Arial"/>
                <a:sym typeface="Arial"/>
              </a:rPr>
              <a:t>1. Aplicația interoghează Redis.</a:t>
            </a:r>
            <a:br>
              <a:rPr lang="ro" sz="1102">
                <a:latin typeface="Arial"/>
                <a:ea typeface="Arial"/>
                <a:cs typeface="Arial"/>
                <a:sym typeface="Arial"/>
              </a:rPr>
            </a:br>
            <a:r>
              <a:rPr lang="ro" sz="1102">
                <a:latin typeface="Arial"/>
                <a:ea typeface="Arial"/>
                <a:cs typeface="Arial"/>
                <a:sym typeface="Arial"/>
              </a:rPr>
              <a:t>2. Cache HIT: Datele sunt returnate imediat din RAM.</a:t>
            </a:r>
            <a:br>
              <a:rPr lang="ro" sz="1102">
                <a:latin typeface="Arial"/>
                <a:ea typeface="Arial"/>
                <a:cs typeface="Arial"/>
                <a:sym typeface="Arial"/>
              </a:rPr>
            </a:br>
            <a:r>
              <a:rPr lang="ro" sz="1102">
                <a:latin typeface="Arial"/>
                <a:ea typeface="Arial"/>
                <a:cs typeface="Arial"/>
                <a:sym typeface="Arial"/>
              </a:rPr>
              <a:t>3. Cache MISS: Datele sunt returnate din MongoDB și salvate ulterior în Redis pentru viitoare cereri.</a:t>
            </a:r>
            <a:endParaRPr sz="1102">
              <a:latin typeface="Arial"/>
              <a:ea typeface="Arial"/>
              <a:cs typeface="Arial"/>
              <a:sym typeface="Arial"/>
            </a:endParaRPr>
          </a:p>
          <a:p>
            <a:pPr indent="-298608" lvl="0" marL="457200" rtl="0" algn="l">
              <a:lnSpc>
                <a:spcPct val="105000"/>
              </a:lnSpc>
              <a:spcBef>
                <a:spcPts val="1200"/>
              </a:spcBef>
              <a:spcAft>
                <a:spcPts val="0"/>
              </a:spcAft>
              <a:buSzPts val="1103"/>
              <a:buFont typeface="Arial"/>
              <a:buChar char="●"/>
            </a:pPr>
            <a:r>
              <a:rPr b="1" lang="ro" sz="1102">
                <a:latin typeface="Arial"/>
                <a:ea typeface="Arial"/>
                <a:cs typeface="Arial"/>
                <a:sym typeface="Arial"/>
              </a:rPr>
              <a:t>Optimizare</a:t>
            </a:r>
            <a:r>
              <a:rPr lang="ro" sz="1102">
                <a:latin typeface="Arial"/>
                <a:ea typeface="Arial"/>
                <a:cs typeface="Arial"/>
                <a:sym typeface="Arial"/>
              </a:rPr>
              <a:t>: </a:t>
            </a:r>
            <a:r>
              <a:rPr b="1" lang="ro" sz="1102">
                <a:latin typeface="Arial"/>
                <a:ea typeface="Arial"/>
                <a:cs typeface="Arial"/>
                <a:sym typeface="Arial"/>
              </a:rPr>
              <a:t>TTL </a:t>
            </a:r>
            <a:r>
              <a:rPr lang="ro" sz="1102">
                <a:latin typeface="Arial"/>
                <a:ea typeface="Arial"/>
                <a:cs typeface="Arial"/>
                <a:sym typeface="Arial"/>
              </a:rPr>
              <a:t>(Time-To-Live) de 30 de minute pentru a preveni stocarea datelor învechite și a preveni utilizarea ineficientă a memoriei.</a:t>
            </a:r>
            <a:endParaRPr sz="1102">
              <a:latin typeface="Arial"/>
              <a:ea typeface="Arial"/>
              <a:cs typeface="Arial"/>
              <a:sym typeface="Arial"/>
            </a:endParaRPr>
          </a:p>
        </p:txBody>
      </p:sp>
      <p:pic>
        <p:nvPicPr>
          <p:cNvPr id="155" name="Google Shape;155;p16"/>
          <p:cNvPicPr preferRelativeResize="0"/>
          <p:nvPr/>
        </p:nvPicPr>
        <p:blipFill>
          <a:blip r:embed="rId3">
            <a:alphaModFix/>
          </a:blip>
          <a:stretch>
            <a:fillRect/>
          </a:stretch>
        </p:blipFill>
        <p:spPr>
          <a:xfrm>
            <a:off x="6195325" y="244250"/>
            <a:ext cx="2700950" cy="3175300"/>
          </a:xfrm>
          <a:prstGeom prst="rect">
            <a:avLst/>
          </a:prstGeom>
          <a:noFill/>
          <a:ln>
            <a:noFill/>
          </a:ln>
        </p:spPr>
      </p:pic>
      <p:sp>
        <p:nvSpPr>
          <p:cNvPr id="156" name="Google Shape;156;p16"/>
          <p:cNvSpPr txBox="1"/>
          <p:nvPr/>
        </p:nvSpPr>
        <p:spPr>
          <a:xfrm>
            <a:off x="4866625" y="244250"/>
            <a:ext cx="1393800" cy="874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i="1" lang="ro" sz="800"/>
              <a:t>Răspuns Cache MISS - Datele sunt preluate din MongoDB.</a:t>
            </a:r>
            <a:br>
              <a:rPr i="1" lang="ro" sz="800"/>
            </a:br>
            <a:r>
              <a:rPr i="1" lang="ro" sz="800"/>
              <a:t>Execution time: </a:t>
            </a:r>
            <a:endParaRPr i="1" sz="800"/>
          </a:p>
          <a:p>
            <a:pPr indent="0" lvl="0" marL="0" rtl="0" algn="r">
              <a:lnSpc>
                <a:spcPct val="115000"/>
              </a:lnSpc>
              <a:spcBef>
                <a:spcPts val="0"/>
              </a:spcBef>
              <a:spcAft>
                <a:spcPts val="0"/>
              </a:spcAft>
              <a:buNone/>
            </a:pPr>
            <a:r>
              <a:rPr i="1" lang="ro" sz="800"/>
              <a:t>12.85 ms</a:t>
            </a:r>
            <a:endParaRPr i="1" sz="800"/>
          </a:p>
        </p:txBody>
      </p:sp>
      <p:pic>
        <p:nvPicPr>
          <p:cNvPr id="157" name="Google Shape;157;p16"/>
          <p:cNvPicPr preferRelativeResize="0"/>
          <p:nvPr/>
        </p:nvPicPr>
        <p:blipFill>
          <a:blip r:embed="rId4">
            <a:alphaModFix/>
          </a:blip>
          <a:stretch>
            <a:fillRect/>
          </a:stretch>
        </p:blipFill>
        <p:spPr>
          <a:xfrm>
            <a:off x="3338975" y="1627471"/>
            <a:ext cx="2700950" cy="3216204"/>
          </a:xfrm>
          <a:prstGeom prst="rect">
            <a:avLst/>
          </a:prstGeom>
          <a:noFill/>
          <a:ln>
            <a:noFill/>
          </a:ln>
        </p:spPr>
      </p:pic>
      <p:sp>
        <p:nvSpPr>
          <p:cNvPr id="158" name="Google Shape;158;p16"/>
          <p:cNvSpPr txBox="1"/>
          <p:nvPr/>
        </p:nvSpPr>
        <p:spPr>
          <a:xfrm>
            <a:off x="6082675" y="3778750"/>
            <a:ext cx="1113900" cy="115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ro" sz="800"/>
              <a:t>Răspuns Cache HIT - Datele sunt returnate instantaneu din Redis.</a:t>
            </a:r>
            <a:endParaRPr i="1" sz="800"/>
          </a:p>
          <a:p>
            <a:pPr indent="0" lvl="0" marL="0" rtl="0" algn="l">
              <a:lnSpc>
                <a:spcPct val="115000"/>
              </a:lnSpc>
              <a:spcBef>
                <a:spcPts val="0"/>
              </a:spcBef>
              <a:spcAft>
                <a:spcPts val="0"/>
              </a:spcAft>
              <a:buNone/>
            </a:pPr>
            <a:r>
              <a:rPr i="1" lang="ro" sz="800"/>
              <a:t>Execution time: 2.84ms</a:t>
            </a:r>
            <a:endParaRPr i="1"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200425" y="218750"/>
            <a:ext cx="4548000" cy="49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41250"/>
              <a:buNone/>
            </a:pPr>
            <a:r>
              <a:rPr lang="ro" sz="2400"/>
              <a:t>Strategia 2 - Write-Through</a:t>
            </a:r>
            <a:endParaRPr sz="2400"/>
          </a:p>
        </p:txBody>
      </p:sp>
      <p:sp>
        <p:nvSpPr>
          <p:cNvPr id="164" name="Google Shape;164;p17"/>
          <p:cNvSpPr txBox="1"/>
          <p:nvPr>
            <p:ph idx="1" type="body"/>
          </p:nvPr>
        </p:nvSpPr>
        <p:spPr>
          <a:xfrm>
            <a:off x="0" y="709850"/>
            <a:ext cx="4482900" cy="1712700"/>
          </a:xfrm>
          <a:prstGeom prst="rect">
            <a:avLst/>
          </a:prstGeom>
        </p:spPr>
        <p:txBody>
          <a:bodyPr anchorCtr="0" anchor="t" bIns="91425" lIns="91425" spcFirstLastPara="1" rIns="91425" wrap="square" tIns="91425">
            <a:normAutofit lnSpcReduction="10000"/>
          </a:bodyPr>
          <a:lstStyle/>
          <a:p>
            <a:pPr indent="-304800" lvl="0" marL="457200" rtl="0" algn="l">
              <a:spcBef>
                <a:spcPts val="0"/>
              </a:spcBef>
              <a:spcAft>
                <a:spcPts val="0"/>
              </a:spcAft>
              <a:buSzPts val="1200"/>
              <a:buFont typeface="Arial"/>
              <a:buChar char="●"/>
            </a:pPr>
            <a:r>
              <a:rPr lang="ro" sz="1200">
                <a:latin typeface="Arial"/>
                <a:ea typeface="Arial"/>
                <a:cs typeface="Arial"/>
                <a:sym typeface="Arial"/>
              </a:rPr>
              <a:t>Utilizată pentru actualizări critice (ex: actualizarea prețurilor - </a:t>
            </a:r>
            <a:r>
              <a:rPr lang="ro" sz="1200">
                <a:solidFill>
                  <a:srgbClr val="000000"/>
                </a:solidFill>
                <a:latin typeface="Arial"/>
                <a:ea typeface="Arial"/>
                <a:cs typeface="Arial"/>
                <a:sym typeface="Arial"/>
              </a:rPr>
              <a:t>PUT /products/{id}/price</a:t>
            </a:r>
            <a:r>
              <a:rPr lang="ro" sz="1200">
                <a:latin typeface="Arial"/>
                <a:ea typeface="Arial"/>
                <a:cs typeface="Arial"/>
                <a:sym typeface="Arial"/>
              </a:rPr>
              <a:t>), prioritizând integritatea datelor în defavoarea vitezei.</a:t>
            </a:r>
            <a:endParaRPr sz="1200">
              <a:latin typeface="Arial"/>
              <a:ea typeface="Arial"/>
              <a:cs typeface="Arial"/>
              <a:sym typeface="Arial"/>
            </a:endParaRPr>
          </a:p>
          <a:p>
            <a:pPr indent="-304800" lvl="0" marL="457200" rtl="0" algn="l">
              <a:spcBef>
                <a:spcPts val="0"/>
              </a:spcBef>
              <a:spcAft>
                <a:spcPts val="0"/>
              </a:spcAft>
              <a:buSzPts val="1200"/>
              <a:buChar char="●"/>
            </a:pPr>
            <a:r>
              <a:rPr b="1" lang="ro" sz="1200">
                <a:latin typeface="Arial"/>
                <a:ea typeface="Arial"/>
                <a:cs typeface="Arial"/>
                <a:sym typeface="Arial"/>
              </a:rPr>
              <a:t>Flux: </a:t>
            </a:r>
            <a:r>
              <a:rPr lang="ro" sz="1200">
                <a:latin typeface="Arial"/>
                <a:ea typeface="Arial"/>
                <a:cs typeface="Arial"/>
                <a:sym typeface="Arial"/>
              </a:rPr>
              <a:t>Scriere sincronă în MongoDB, apoi în Redis</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ro" sz="1200">
                <a:latin typeface="Arial"/>
                <a:ea typeface="Arial"/>
                <a:cs typeface="Arial"/>
                <a:sym typeface="Arial"/>
              </a:rPr>
              <a:t>Garantează că prețul este identic în ambele spații de stocare.</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ro" sz="1200">
                <a:latin typeface="Arial"/>
                <a:ea typeface="Arial"/>
                <a:cs typeface="Arial"/>
                <a:sym typeface="Arial"/>
              </a:rPr>
              <a:t>Latență mai mare, deoarece clientul așteaptă ambele scrieri.</a:t>
            </a:r>
            <a:endParaRPr sz="1200">
              <a:latin typeface="Arial"/>
              <a:ea typeface="Arial"/>
              <a:cs typeface="Arial"/>
              <a:sym typeface="Arial"/>
            </a:endParaRPr>
          </a:p>
        </p:txBody>
      </p:sp>
      <p:sp>
        <p:nvSpPr>
          <p:cNvPr id="165" name="Google Shape;165;p17"/>
          <p:cNvSpPr txBox="1"/>
          <p:nvPr>
            <p:ph type="title"/>
          </p:nvPr>
        </p:nvSpPr>
        <p:spPr>
          <a:xfrm>
            <a:off x="229200" y="2339425"/>
            <a:ext cx="4342800" cy="57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ro" sz="2150"/>
              <a:t>Strategia 3 - Write-Behind</a:t>
            </a:r>
            <a:endParaRPr sz="2150"/>
          </a:p>
        </p:txBody>
      </p:sp>
      <p:sp>
        <p:nvSpPr>
          <p:cNvPr id="166" name="Google Shape;166;p17"/>
          <p:cNvSpPr txBox="1"/>
          <p:nvPr>
            <p:ph idx="1" type="body"/>
          </p:nvPr>
        </p:nvSpPr>
        <p:spPr>
          <a:xfrm>
            <a:off x="116700" y="2746150"/>
            <a:ext cx="4455300" cy="2448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Arial"/>
              <a:buChar char="●"/>
            </a:pPr>
            <a:r>
              <a:rPr lang="ro" sz="1200">
                <a:latin typeface="Arial"/>
                <a:ea typeface="Arial"/>
                <a:cs typeface="Arial"/>
                <a:sym typeface="Arial"/>
              </a:rPr>
              <a:t>Utilizată pentru date volatile (ex: contorizarea vizualizărilor - </a:t>
            </a:r>
            <a:r>
              <a:rPr lang="ro" sz="1200">
                <a:solidFill>
                  <a:srgbClr val="000000"/>
                </a:solidFill>
                <a:latin typeface="Arial"/>
                <a:ea typeface="Arial"/>
                <a:cs typeface="Arial"/>
                <a:sym typeface="Arial"/>
              </a:rPr>
              <a:t>POST /products/{id}/view).</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ro" sz="1200">
                <a:solidFill>
                  <a:srgbClr val="000000"/>
                </a:solidFill>
                <a:latin typeface="Arial"/>
                <a:ea typeface="Arial"/>
                <a:cs typeface="Arial"/>
                <a:sym typeface="Arial"/>
              </a:rPr>
              <a:t>Flux: </a:t>
            </a:r>
            <a:r>
              <a:rPr lang="ro" sz="1200">
                <a:solidFill>
                  <a:srgbClr val="000000"/>
                </a:solidFill>
                <a:latin typeface="Arial"/>
                <a:ea typeface="Arial"/>
                <a:cs typeface="Arial"/>
                <a:sym typeface="Arial"/>
              </a:rPr>
              <a:t>Este o strategie asincronă care scrie imediat în Redis și oferă răspuns instant către client. În fundal, MongoDB este de asemenea actualizată, însă clientul nu mai așteaptă un răspuns pentru finalizarea acestui proces.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ro" sz="1200">
                <a:solidFill>
                  <a:srgbClr val="000000"/>
                </a:solidFill>
                <a:latin typeface="Arial"/>
                <a:ea typeface="Arial"/>
                <a:cs typeface="Arial"/>
                <a:sym typeface="Arial"/>
              </a:rPr>
              <a:t>Experiența utilizatorului este extrem de rapidă.</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ro" sz="1200">
                <a:solidFill>
                  <a:srgbClr val="000000"/>
                </a:solidFill>
                <a:latin typeface="Arial"/>
                <a:ea typeface="Arial"/>
                <a:cs typeface="Arial"/>
                <a:sym typeface="Arial"/>
              </a:rPr>
              <a:t>Există un mic risc de a pierde ultimele date în cazul unui crash înainte ca MongoDB să se actualizeze complet.</a:t>
            </a:r>
            <a:endParaRPr sz="1200">
              <a:solidFill>
                <a:srgbClr val="000000"/>
              </a:solidFill>
              <a:latin typeface="Arial"/>
              <a:ea typeface="Arial"/>
              <a:cs typeface="Arial"/>
              <a:sym typeface="Arial"/>
            </a:endParaRPr>
          </a:p>
        </p:txBody>
      </p:sp>
      <p:pic>
        <p:nvPicPr>
          <p:cNvPr id="167" name="Google Shape;167;p17" title="DiagramaBDNSV.drawio.png"/>
          <p:cNvPicPr preferRelativeResize="0"/>
          <p:nvPr/>
        </p:nvPicPr>
        <p:blipFill>
          <a:blip r:embed="rId3">
            <a:alphaModFix/>
          </a:blip>
          <a:stretch>
            <a:fillRect/>
          </a:stretch>
        </p:blipFill>
        <p:spPr>
          <a:xfrm>
            <a:off x="4482900" y="583700"/>
            <a:ext cx="4267200" cy="38465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226100" y="252525"/>
            <a:ext cx="2982000" cy="663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o"/>
              <a:t>Strcturi de Date</a:t>
            </a:r>
            <a:endParaRPr/>
          </a:p>
        </p:txBody>
      </p:sp>
      <p:sp>
        <p:nvSpPr>
          <p:cNvPr id="173" name="Google Shape;173;p18"/>
          <p:cNvSpPr txBox="1"/>
          <p:nvPr>
            <p:ph idx="1" type="body"/>
          </p:nvPr>
        </p:nvSpPr>
        <p:spPr>
          <a:xfrm>
            <a:off x="226100" y="867500"/>
            <a:ext cx="8562000" cy="1531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ro" sz="1100">
                <a:solidFill>
                  <a:srgbClr val="000000"/>
                </a:solidFill>
                <a:latin typeface="Arial"/>
                <a:ea typeface="Arial"/>
                <a:cs typeface="Arial"/>
                <a:sym typeface="Arial"/>
              </a:rPr>
              <a:t>HASH:</a:t>
            </a:r>
            <a:r>
              <a:rPr lang="ro" sz="1100">
                <a:solidFill>
                  <a:srgbClr val="000000"/>
                </a:solidFill>
                <a:latin typeface="Arial"/>
                <a:ea typeface="Arial"/>
                <a:cs typeface="Arial"/>
                <a:sym typeface="Arial"/>
              </a:rPr>
              <a:t> Mapează câmpuri specifice produselor (preț, stoc, …) similar unui dicționar. Evită decodarea completă a JSON-ului și permite update-uri parțiale eficiente.</a:t>
            </a:r>
            <a:br>
              <a:rPr lang="ro" sz="1100">
                <a:solidFill>
                  <a:srgbClr val="000000"/>
                </a:solidFill>
                <a:latin typeface="Arial"/>
                <a:ea typeface="Arial"/>
                <a:cs typeface="Arial"/>
                <a:sym typeface="Arial"/>
              </a:rPr>
            </a:br>
            <a:r>
              <a:rPr b="1" lang="ro" sz="1100">
                <a:solidFill>
                  <a:srgbClr val="000000"/>
                </a:solidFill>
                <a:latin typeface="Arial"/>
                <a:ea typeface="Arial"/>
                <a:cs typeface="Arial"/>
                <a:sym typeface="Arial"/>
              </a:rPr>
              <a:t>STRING:</a:t>
            </a:r>
            <a:r>
              <a:rPr lang="ro" sz="1100">
                <a:solidFill>
                  <a:srgbClr val="000000"/>
                </a:solidFill>
                <a:latin typeface="Arial"/>
                <a:ea typeface="Arial"/>
                <a:cs typeface="Arial"/>
                <a:sym typeface="Arial"/>
              </a:rPr>
              <a:t> Folosit pentru contorizarea vizualizărilor. Operațiunea este atomică, garantând că niciun click nu se pierde.</a:t>
            </a:r>
            <a:br>
              <a:rPr lang="ro" sz="1100">
                <a:solidFill>
                  <a:srgbClr val="000000"/>
                </a:solidFill>
                <a:latin typeface="Arial"/>
                <a:ea typeface="Arial"/>
                <a:cs typeface="Arial"/>
                <a:sym typeface="Arial"/>
              </a:rPr>
            </a:br>
            <a:r>
              <a:rPr b="1" lang="ro" sz="1100">
                <a:solidFill>
                  <a:srgbClr val="000000"/>
                </a:solidFill>
                <a:latin typeface="Arial"/>
                <a:ea typeface="Arial"/>
                <a:cs typeface="Arial"/>
                <a:sym typeface="Arial"/>
              </a:rPr>
              <a:t>LIST:</a:t>
            </a:r>
            <a:r>
              <a:rPr lang="ro" sz="1100">
                <a:solidFill>
                  <a:srgbClr val="000000"/>
                </a:solidFill>
                <a:latin typeface="Arial"/>
                <a:ea typeface="Arial"/>
                <a:cs typeface="Arial"/>
                <a:sym typeface="Arial"/>
              </a:rPr>
              <a:t> Coadă FIFO implementată ca listă dublu înlănțuită pentru ultimele produse vizualizate. Comenzile LPUSH și LTRIM mențin automat doar ultimele 5 produse vizualizate, cu complexitate O(1).</a:t>
            </a:r>
            <a:br>
              <a:rPr lang="ro" sz="1100">
                <a:solidFill>
                  <a:srgbClr val="000000"/>
                </a:solidFill>
                <a:latin typeface="Arial"/>
                <a:ea typeface="Arial"/>
                <a:cs typeface="Arial"/>
                <a:sym typeface="Arial"/>
              </a:rPr>
            </a:br>
            <a:r>
              <a:rPr b="1" lang="ro" sz="1100">
                <a:solidFill>
                  <a:srgbClr val="000000"/>
                </a:solidFill>
                <a:latin typeface="Arial"/>
                <a:ea typeface="Arial"/>
                <a:cs typeface="Arial"/>
                <a:sym typeface="Arial"/>
              </a:rPr>
              <a:t>SORTED SET:</a:t>
            </a:r>
            <a:r>
              <a:rPr lang="ro" sz="1100">
                <a:solidFill>
                  <a:srgbClr val="000000"/>
                </a:solidFill>
                <a:latin typeface="Arial"/>
                <a:ea typeface="Arial"/>
                <a:cs typeface="Arial"/>
                <a:sym typeface="Arial"/>
              </a:rPr>
              <a:t> Menține elementele unice ordonate după scor (numărul de vizualizări). Permite generarea instantanee a clasamentului (Leaderboard) fără interogări costisitoare de tip ORDER BY.</a:t>
            </a:r>
            <a:endParaRPr>
              <a:latin typeface="Arial"/>
              <a:ea typeface="Arial"/>
              <a:cs typeface="Arial"/>
              <a:sym typeface="Arial"/>
            </a:endParaRPr>
          </a:p>
        </p:txBody>
      </p:sp>
      <p:pic>
        <p:nvPicPr>
          <p:cNvPr id="174" name="Google Shape;174;p18"/>
          <p:cNvPicPr preferRelativeResize="0"/>
          <p:nvPr/>
        </p:nvPicPr>
        <p:blipFill>
          <a:blip r:embed="rId3">
            <a:alphaModFix/>
          </a:blip>
          <a:stretch>
            <a:fillRect/>
          </a:stretch>
        </p:blipFill>
        <p:spPr>
          <a:xfrm>
            <a:off x="226100" y="2328594"/>
            <a:ext cx="2982000" cy="2281131"/>
          </a:xfrm>
          <a:prstGeom prst="rect">
            <a:avLst/>
          </a:prstGeom>
          <a:noFill/>
          <a:ln>
            <a:noFill/>
          </a:ln>
        </p:spPr>
      </p:pic>
      <p:sp>
        <p:nvSpPr>
          <p:cNvPr id="175" name="Google Shape;175;p18"/>
          <p:cNvSpPr txBox="1"/>
          <p:nvPr/>
        </p:nvSpPr>
        <p:spPr>
          <a:xfrm>
            <a:off x="-72275" y="4517225"/>
            <a:ext cx="3226200" cy="515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i="1" lang="ro" sz="1000"/>
              <a:t>Structura HASH în Redis Commander stocând detaliile unui produs.</a:t>
            </a:r>
            <a:endParaRPr i="1" sz="1000"/>
          </a:p>
        </p:txBody>
      </p:sp>
      <p:pic>
        <p:nvPicPr>
          <p:cNvPr id="176" name="Google Shape;176;p18"/>
          <p:cNvPicPr preferRelativeResize="0"/>
          <p:nvPr/>
        </p:nvPicPr>
        <p:blipFill>
          <a:blip r:embed="rId4">
            <a:alphaModFix/>
          </a:blip>
          <a:stretch>
            <a:fillRect/>
          </a:stretch>
        </p:blipFill>
        <p:spPr>
          <a:xfrm>
            <a:off x="3199125" y="2328600"/>
            <a:ext cx="2890290" cy="2281125"/>
          </a:xfrm>
          <a:prstGeom prst="rect">
            <a:avLst/>
          </a:prstGeom>
          <a:noFill/>
          <a:ln>
            <a:noFill/>
          </a:ln>
        </p:spPr>
      </p:pic>
      <p:sp>
        <p:nvSpPr>
          <p:cNvPr id="177" name="Google Shape;177;p18"/>
          <p:cNvSpPr txBox="1"/>
          <p:nvPr/>
        </p:nvSpPr>
        <p:spPr>
          <a:xfrm>
            <a:off x="3314900" y="4517225"/>
            <a:ext cx="2384400" cy="515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i="1" lang="ro" sz="1000"/>
              <a:t>Structura LIST utilizată pentru istoricul de navigare.</a:t>
            </a:r>
            <a:endParaRPr i="1" sz="1000"/>
          </a:p>
        </p:txBody>
      </p:sp>
      <p:pic>
        <p:nvPicPr>
          <p:cNvPr id="178" name="Google Shape;178;p18"/>
          <p:cNvPicPr preferRelativeResize="0"/>
          <p:nvPr/>
        </p:nvPicPr>
        <p:blipFill>
          <a:blip r:embed="rId5">
            <a:alphaModFix/>
          </a:blip>
          <a:stretch>
            <a:fillRect/>
          </a:stretch>
        </p:blipFill>
        <p:spPr>
          <a:xfrm>
            <a:off x="6049775" y="2328600"/>
            <a:ext cx="2842328" cy="2188625"/>
          </a:xfrm>
          <a:prstGeom prst="rect">
            <a:avLst/>
          </a:prstGeom>
          <a:noFill/>
          <a:ln>
            <a:noFill/>
          </a:ln>
        </p:spPr>
      </p:pic>
      <p:sp>
        <p:nvSpPr>
          <p:cNvPr id="179" name="Google Shape;179;p18"/>
          <p:cNvSpPr txBox="1"/>
          <p:nvPr/>
        </p:nvSpPr>
        <p:spPr>
          <a:xfrm>
            <a:off x="6235388" y="4517225"/>
            <a:ext cx="2471100" cy="515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i="1" lang="ro" sz="1000"/>
              <a:t>Clasamentul produselor în timp real folosind Sorted Sets.</a:t>
            </a:r>
            <a:endParaRPr i="1"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9"/>
          <p:cNvSpPr txBox="1"/>
          <p:nvPr>
            <p:ph type="title"/>
          </p:nvPr>
        </p:nvSpPr>
        <p:spPr>
          <a:xfrm>
            <a:off x="486675" y="360375"/>
            <a:ext cx="3512100" cy="6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o"/>
              <a:t>Generarea Datelor</a:t>
            </a:r>
            <a:endParaRPr/>
          </a:p>
        </p:txBody>
      </p:sp>
      <p:sp>
        <p:nvSpPr>
          <p:cNvPr id="185" name="Google Shape;185;p19"/>
          <p:cNvSpPr txBox="1"/>
          <p:nvPr>
            <p:ph idx="1" type="body"/>
          </p:nvPr>
        </p:nvSpPr>
        <p:spPr>
          <a:xfrm>
            <a:off x="169525" y="1092425"/>
            <a:ext cx="5077500" cy="363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o" sz="1100">
                <a:solidFill>
                  <a:srgbClr val="000000"/>
                </a:solidFill>
                <a:latin typeface="Arial"/>
                <a:ea typeface="Arial"/>
                <a:cs typeface="Arial"/>
                <a:sym typeface="Arial"/>
              </a:rPr>
              <a:t>Pentru a putea realiza teste de performanță relevante, am creat scriptul seed_data.py, care populează baza de date MongoDB cu 10.000 de produse.</a:t>
            </a:r>
            <a:br>
              <a:rPr lang="ro" sz="1100">
                <a:latin typeface="Arial"/>
                <a:ea typeface="Arial"/>
                <a:cs typeface="Arial"/>
                <a:sym typeface="Arial"/>
              </a:rPr>
            </a:br>
            <a:br>
              <a:rPr lang="ro" sz="1100">
                <a:latin typeface="Arial"/>
                <a:ea typeface="Arial"/>
                <a:cs typeface="Arial"/>
                <a:sym typeface="Arial"/>
              </a:rPr>
            </a:br>
            <a:r>
              <a:rPr lang="ro" sz="1100">
                <a:solidFill>
                  <a:srgbClr val="000000"/>
                </a:solidFill>
                <a:latin typeface="Arial"/>
                <a:ea typeface="Arial"/>
                <a:cs typeface="Arial"/>
                <a:sym typeface="Arial"/>
              </a:rPr>
              <a:t>Scriptul funcționează astfel:</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AutoNum type="arabicPeriod"/>
            </a:pPr>
            <a:r>
              <a:rPr b="1" lang="ro" sz="1100">
                <a:solidFill>
                  <a:srgbClr val="000000"/>
                </a:solidFill>
                <a:latin typeface="Arial"/>
                <a:ea typeface="Arial"/>
                <a:cs typeface="Arial"/>
                <a:sym typeface="Arial"/>
              </a:rPr>
              <a:t>Curățare:</a:t>
            </a:r>
            <a:r>
              <a:rPr lang="ro" sz="1100">
                <a:solidFill>
                  <a:srgbClr val="000000"/>
                </a:solidFill>
                <a:latin typeface="Arial"/>
                <a:ea typeface="Arial"/>
                <a:cs typeface="Arial"/>
                <a:sym typeface="Arial"/>
              </a:rPr>
              <a:t> La fiecare rulare, scriptul șterge datele anterioare din MongoDB pentru a asigura un mediu de testare curat.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ro" sz="1100">
                <a:solidFill>
                  <a:srgbClr val="000000"/>
                </a:solidFill>
                <a:latin typeface="Arial"/>
                <a:ea typeface="Arial"/>
                <a:cs typeface="Arial"/>
                <a:sym typeface="Arial"/>
              </a:rPr>
              <a:t>Construcția Numelui:</a:t>
            </a:r>
            <a:r>
              <a:rPr lang="ro" sz="1100">
                <a:solidFill>
                  <a:srgbClr val="000000"/>
                </a:solidFill>
                <a:latin typeface="Arial"/>
                <a:ea typeface="Arial"/>
                <a:cs typeface="Arial"/>
                <a:sym typeface="Arial"/>
              </a:rPr>
              <a:t> Folosește un algoritm care combină aleatoriu un </a:t>
            </a:r>
            <a:r>
              <a:rPr b="1" lang="ro" sz="1100">
                <a:solidFill>
                  <a:srgbClr val="000000"/>
                </a:solidFill>
                <a:latin typeface="Arial"/>
                <a:ea typeface="Arial"/>
                <a:cs typeface="Arial"/>
                <a:sym typeface="Arial"/>
              </a:rPr>
              <a:t>Adjectiv</a:t>
            </a:r>
            <a:r>
              <a:rPr lang="ro" sz="1100">
                <a:solidFill>
                  <a:srgbClr val="000000"/>
                </a:solidFill>
                <a:latin typeface="Arial"/>
                <a:ea typeface="Arial"/>
                <a:cs typeface="Arial"/>
                <a:sym typeface="Arial"/>
              </a:rPr>
              <a:t> (ex: "Wireless", "Ergonomic") cu un </a:t>
            </a:r>
            <a:r>
              <a:rPr b="1" lang="ro" sz="1100">
                <a:solidFill>
                  <a:srgbClr val="000000"/>
                </a:solidFill>
                <a:latin typeface="Arial"/>
                <a:ea typeface="Arial"/>
                <a:cs typeface="Arial"/>
                <a:sym typeface="Arial"/>
              </a:rPr>
              <a:t>Substantiv</a:t>
            </a:r>
            <a:r>
              <a:rPr lang="ro" sz="1100">
                <a:solidFill>
                  <a:srgbClr val="000000"/>
                </a:solidFill>
                <a:latin typeface="Arial"/>
                <a:ea typeface="Arial"/>
                <a:cs typeface="Arial"/>
                <a:sym typeface="Arial"/>
              </a:rPr>
              <a:t> specific categoriei (ex: "Mouse", "Keyboard") și un sufix de </a:t>
            </a:r>
            <a:r>
              <a:rPr b="1" lang="ro" sz="1100">
                <a:solidFill>
                  <a:srgbClr val="000000"/>
                </a:solidFill>
                <a:latin typeface="Arial"/>
                <a:ea typeface="Arial"/>
                <a:cs typeface="Arial"/>
                <a:sym typeface="Arial"/>
              </a:rPr>
              <a:t>Model/Serie</a:t>
            </a:r>
            <a:r>
              <a:rPr lang="ro" sz="1100">
                <a:solidFill>
                  <a:srgbClr val="000000"/>
                </a:solidFill>
                <a:latin typeface="Arial"/>
                <a:ea typeface="Arial"/>
                <a:cs typeface="Arial"/>
                <a:sym typeface="Arial"/>
              </a:rPr>
              <a:t>.</a:t>
            </a:r>
            <a:br>
              <a:rPr lang="ro" sz="1100">
                <a:solidFill>
                  <a:srgbClr val="000000"/>
                </a:solidFill>
                <a:latin typeface="Arial"/>
                <a:ea typeface="Arial"/>
                <a:cs typeface="Arial"/>
                <a:sym typeface="Arial"/>
              </a:rPr>
            </a:br>
            <a:r>
              <a:rPr lang="ro" sz="1100">
                <a:solidFill>
                  <a:srgbClr val="000000"/>
                </a:solidFill>
                <a:latin typeface="Arial"/>
                <a:ea typeface="Arial"/>
                <a:cs typeface="Arial"/>
                <a:sym typeface="Arial"/>
              </a:rPr>
              <a:t>        Exemplu generat: "High-Performance Headphones 'Titan' Series"</a:t>
            </a:r>
            <a:endParaRPr>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ro" sz="1100">
                <a:solidFill>
                  <a:srgbClr val="000000"/>
                </a:solidFill>
                <a:latin typeface="Arial"/>
                <a:ea typeface="Arial"/>
                <a:cs typeface="Arial"/>
                <a:sym typeface="Arial"/>
              </a:rPr>
              <a:t>Atribute Realiste:</a:t>
            </a:r>
            <a:r>
              <a:rPr lang="ro" sz="1100">
                <a:solidFill>
                  <a:srgbClr val="000000"/>
                </a:solidFill>
                <a:latin typeface="Arial"/>
                <a:ea typeface="Arial"/>
                <a:cs typeface="Arial"/>
                <a:sym typeface="Arial"/>
              </a:rPr>
              <a:t> Prețurile, stocurile și descrierile sunt generate folosind librăria </a:t>
            </a:r>
            <a:r>
              <a:rPr b="1" lang="ro" sz="1100">
                <a:solidFill>
                  <a:srgbClr val="000000"/>
                </a:solidFill>
                <a:latin typeface="Arial"/>
                <a:ea typeface="Arial"/>
                <a:cs typeface="Arial"/>
                <a:sym typeface="Arial"/>
              </a:rPr>
              <a:t>Faker</a:t>
            </a:r>
            <a:r>
              <a:rPr lang="ro" sz="1100">
                <a:solidFill>
                  <a:srgbClr val="000000"/>
                </a:solidFill>
                <a:latin typeface="Arial"/>
                <a:ea typeface="Arial"/>
                <a:cs typeface="Arial"/>
                <a:sym typeface="Arial"/>
              </a:rPr>
              <a:t>, dar respectând limite logice (de exemplu, prețuri între 15 și 3500 RON).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AutoNum type="arabicPeriod"/>
            </a:pPr>
            <a:r>
              <a:rPr b="1" lang="ro" sz="1100">
                <a:solidFill>
                  <a:srgbClr val="000000"/>
                </a:solidFill>
                <a:latin typeface="Arial"/>
                <a:ea typeface="Arial"/>
                <a:cs typeface="Arial"/>
                <a:sym typeface="Arial"/>
              </a:rPr>
              <a:t>Inserare în Masă:</a:t>
            </a:r>
            <a:r>
              <a:rPr lang="ro" sz="1100">
                <a:solidFill>
                  <a:srgbClr val="000000"/>
                </a:solidFill>
                <a:latin typeface="Arial"/>
                <a:ea typeface="Arial"/>
                <a:cs typeface="Arial"/>
                <a:sym typeface="Arial"/>
              </a:rPr>
              <a:t> După generarea celor 10.000 de obiecte în memorie, acestea sunt inserate printr-o singură operațiune optimizată (insert_many) în MongoDB.</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latin typeface="Arial"/>
              <a:ea typeface="Arial"/>
              <a:cs typeface="Arial"/>
              <a:sym typeface="Arial"/>
            </a:endParaRPr>
          </a:p>
        </p:txBody>
      </p:sp>
      <p:pic>
        <p:nvPicPr>
          <p:cNvPr id="186" name="Google Shape;186;p19"/>
          <p:cNvPicPr preferRelativeResize="0"/>
          <p:nvPr/>
        </p:nvPicPr>
        <p:blipFill>
          <a:blip r:embed="rId3">
            <a:alphaModFix/>
          </a:blip>
          <a:stretch>
            <a:fillRect/>
          </a:stretch>
        </p:blipFill>
        <p:spPr>
          <a:xfrm>
            <a:off x="5743400" y="410325"/>
            <a:ext cx="3035775" cy="1134875"/>
          </a:xfrm>
          <a:prstGeom prst="rect">
            <a:avLst/>
          </a:prstGeom>
          <a:noFill/>
          <a:ln>
            <a:noFill/>
          </a:ln>
        </p:spPr>
      </p:pic>
      <p:sp>
        <p:nvSpPr>
          <p:cNvPr id="187" name="Google Shape;187;p19"/>
          <p:cNvSpPr txBox="1"/>
          <p:nvPr/>
        </p:nvSpPr>
        <p:spPr>
          <a:xfrm>
            <a:off x="5761288" y="1599125"/>
            <a:ext cx="3000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i="1" lang="ro" sz="1000"/>
              <a:t>Output-ul scriptului de populare a bazei de date.</a:t>
            </a:r>
            <a:endParaRPr sz="1200"/>
          </a:p>
        </p:txBody>
      </p:sp>
      <p:pic>
        <p:nvPicPr>
          <p:cNvPr id="188" name="Google Shape;188;p19"/>
          <p:cNvPicPr preferRelativeResize="0"/>
          <p:nvPr/>
        </p:nvPicPr>
        <p:blipFill>
          <a:blip r:embed="rId4">
            <a:alphaModFix/>
          </a:blip>
          <a:stretch>
            <a:fillRect/>
          </a:stretch>
        </p:blipFill>
        <p:spPr>
          <a:xfrm>
            <a:off x="5173500" y="1937825"/>
            <a:ext cx="3605674" cy="2066375"/>
          </a:xfrm>
          <a:prstGeom prst="rect">
            <a:avLst/>
          </a:prstGeom>
          <a:noFill/>
          <a:ln>
            <a:noFill/>
          </a:ln>
        </p:spPr>
      </p:pic>
      <p:sp>
        <p:nvSpPr>
          <p:cNvPr id="189" name="Google Shape;189;p19"/>
          <p:cNvSpPr txBox="1"/>
          <p:nvPr/>
        </p:nvSpPr>
        <p:spPr>
          <a:xfrm>
            <a:off x="5173500" y="4066800"/>
            <a:ext cx="37704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i="1" lang="ro" sz="1000"/>
              <a:t>Validarea celor 10.000 de produse în MongoDB Compass.</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237950" y="345150"/>
            <a:ext cx="3717300" cy="607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o"/>
              <a:t>Analiza Performanței</a:t>
            </a:r>
            <a:endParaRPr/>
          </a:p>
        </p:txBody>
      </p:sp>
      <p:sp>
        <p:nvSpPr>
          <p:cNvPr id="195" name="Google Shape;195;p20"/>
          <p:cNvSpPr txBox="1"/>
          <p:nvPr>
            <p:ph idx="1" type="body"/>
          </p:nvPr>
        </p:nvSpPr>
        <p:spPr>
          <a:xfrm>
            <a:off x="326750" y="989800"/>
            <a:ext cx="8455500" cy="3845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ro" sz="1200">
                <a:solidFill>
                  <a:srgbClr val="000000"/>
                </a:solidFill>
                <a:latin typeface="Arial"/>
                <a:ea typeface="Arial"/>
                <a:cs typeface="Arial"/>
                <a:sym typeface="Arial"/>
              </a:rPr>
              <a:t>Pe parcursul realizării proiectului,  am remarcat faptul că rularea locală atât a bazei de date MongoDB, cât și a stratului de caching Redis, poate duce la obținerea unor rezultate nerealiste, cu diferențe mult prea mici de timp. Așadar am abordat următoarele două situații:</a:t>
            </a:r>
            <a:br>
              <a:rPr lang="ro" sz="1200">
                <a:solidFill>
                  <a:srgbClr val="000000"/>
                </a:solidFill>
                <a:latin typeface="Arial"/>
                <a:ea typeface="Arial"/>
                <a:cs typeface="Arial"/>
                <a:sym typeface="Arial"/>
              </a:rPr>
            </a:br>
            <a:r>
              <a:rPr b="1" lang="ro" sz="1200">
                <a:solidFill>
                  <a:srgbClr val="000000"/>
                </a:solidFill>
                <a:latin typeface="Arial"/>
                <a:ea typeface="Arial"/>
                <a:cs typeface="Arial"/>
                <a:sym typeface="Arial"/>
              </a:rPr>
              <a:t>a) Toată infrastructura se află local</a:t>
            </a:r>
            <a:r>
              <a:rPr lang="ro" sz="1200">
                <a:solidFill>
                  <a:srgbClr val="000000"/>
                </a:solidFill>
                <a:latin typeface="Arial"/>
                <a:ea typeface="Arial"/>
                <a:cs typeface="Arial"/>
                <a:sym typeface="Arial"/>
              </a:rPr>
              <a:t> (fără latență)</a:t>
            </a:r>
            <a:br>
              <a:rPr lang="ro" sz="1200">
                <a:solidFill>
                  <a:srgbClr val="000000"/>
                </a:solidFill>
                <a:latin typeface="Arial"/>
                <a:ea typeface="Arial"/>
                <a:cs typeface="Arial"/>
                <a:sym typeface="Arial"/>
              </a:rPr>
            </a:br>
            <a:r>
              <a:rPr b="1" lang="ro" sz="1200">
                <a:solidFill>
                  <a:srgbClr val="000000"/>
                </a:solidFill>
                <a:latin typeface="Arial"/>
                <a:ea typeface="Arial"/>
                <a:cs typeface="Arial"/>
                <a:sym typeface="Arial"/>
              </a:rPr>
              <a:t>b) Simulare Cloud:</a:t>
            </a:r>
            <a:r>
              <a:rPr lang="ro" sz="1200">
                <a:solidFill>
                  <a:srgbClr val="000000"/>
                </a:solidFill>
                <a:latin typeface="Arial"/>
                <a:ea typeface="Arial"/>
                <a:cs typeface="Arial"/>
                <a:sym typeface="Arial"/>
              </a:rPr>
              <a:t> Când baza de date (</a:t>
            </a:r>
            <a:r>
              <a:rPr b="1" lang="ro" sz="1200">
                <a:solidFill>
                  <a:srgbClr val="000000"/>
                </a:solidFill>
                <a:latin typeface="Arial"/>
                <a:ea typeface="Arial"/>
                <a:cs typeface="Arial"/>
                <a:sym typeface="Arial"/>
              </a:rPr>
              <a:t>persistence layer</a:t>
            </a:r>
            <a:r>
              <a:rPr lang="ro" sz="1200">
                <a:solidFill>
                  <a:srgbClr val="000000"/>
                </a:solidFill>
                <a:latin typeface="Arial"/>
                <a:ea typeface="Arial"/>
                <a:cs typeface="Arial"/>
                <a:sym typeface="Arial"/>
              </a:rPr>
              <a:t>) se află la o distanță mai mare, caz în care există o latență semnificativă atunci când este interogată MongoDB</a:t>
            </a:r>
            <a:br>
              <a:rPr lang="ro" sz="1200">
                <a:solidFill>
                  <a:srgbClr val="000000"/>
                </a:solidFill>
                <a:latin typeface="Arial"/>
                <a:ea typeface="Arial"/>
                <a:cs typeface="Arial"/>
                <a:sym typeface="Arial"/>
              </a:rPr>
            </a:br>
            <a:br>
              <a:rPr lang="ro" sz="1200">
                <a:solidFill>
                  <a:srgbClr val="000000"/>
                </a:solidFill>
                <a:latin typeface="Arial"/>
                <a:ea typeface="Arial"/>
                <a:cs typeface="Arial"/>
                <a:sym typeface="Arial"/>
              </a:rPr>
            </a:br>
            <a:r>
              <a:rPr lang="ro" sz="1200">
                <a:solidFill>
                  <a:srgbClr val="000000"/>
                </a:solidFill>
                <a:latin typeface="Arial"/>
                <a:ea typeface="Arial"/>
                <a:cs typeface="Arial"/>
                <a:sym typeface="Arial"/>
              </a:rPr>
              <a:t>Pentru a compara metodele de caching, am folosit scriptul </a:t>
            </a:r>
            <a:r>
              <a:rPr i="1" lang="ro" sz="1200">
                <a:solidFill>
                  <a:srgbClr val="000000"/>
                </a:solidFill>
                <a:latin typeface="Arial"/>
                <a:ea typeface="Arial"/>
                <a:cs typeface="Arial"/>
                <a:sym typeface="Arial"/>
              </a:rPr>
              <a:t>benchmark.py</a:t>
            </a:r>
            <a:r>
              <a:rPr lang="ro" sz="1200">
                <a:solidFill>
                  <a:srgbClr val="000000"/>
                </a:solidFill>
                <a:latin typeface="Arial"/>
                <a:ea typeface="Arial"/>
                <a:cs typeface="Arial"/>
                <a:sym typeface="Arial"/>
              </a:rPr>
              <a:t> care conține următoarele teste:</a:t>
            </a:r>
            <a:br>
              <a:rPr lang="ro" sz="1200">
                <a:solidFill>
                  <a:srgbClr val="000000"/>
                </a:solidFill>
                <a:latin typeface="Arial"/>
                <a:ea typeface="Arial"/>
                <a:cs typeface="Arial"/>
                <a:sym typeface="Arial"/>
              </a:rPr>
            </a:br>
            <a:r>
              <a:rPr b="1" lang="ro" sz="1200">
                <a:solidFill>
                  <a:srgbClr val="000000"/>
                </a:solidFill>
                <a:latin typeface="Arial"/>
                <a:ea typeface="Arial"/>
                <a:cs typeface="Arial"/>
                <a:sym typeface="Arial"/>
              </a:rPr>
              <a:t>a) Infrastructura locală</a:t>
            </a:r>
            <a:r>
              <a:rPr lang="ro" sz="1200">
                <a:solidFill>
                  <a:srgbClr val="000000"/>
                </a:solidFill>
                <a:latin typeface="Arial"/>
                <a:ea typeface="Arial"/>
                <a:cs typeface="Arial"/>
                <a:sym typeface="Arial"/>
              </a:rPr>
              <a:t> Alegem aleatoriu 1000 de ID-uri între 1 și 5000. Pentru fiecare dintre cele 1000 de produse aplicăm mai întâi strategia </a:t>
            </a:r>
            <a:r>
              <a:rPr b="1" lang="ro" sz="1200">
                <a:solidFill>
                  <a:srgbClr val="000000"/>
                </a:solidFill>
                <a:latin typeface="Arial"/>
                <a:ea typeface="Arial"/>
                <a:cs typeface="Arial"/>
                <a:sym typeface="Arial"/>
              </a:rPr>
              <a:t>CACHE-ASIDE</a:t>
            </a:r>
            <a:r>
              <a:rPr lang="ro" sz="1200">
                <a:solidFill>
                  <a:srgbClr val="000000"/>
                </a:solidFill>
                <a:latin typeface="Arial"/>
                <a:ea typeface="Arial"/>
                <a:cs typeface="Arial"/>
                <a:sym typeface="Arial"/>
              </a:rPr>
              <a:t> și măsurăm care a fost media de timp atunci când produsul a fost găsit în Redis ("Hit") față de când a fost nevoie să fie preluat din MongoDB ("Miss"). Mai apoi, comparăm cele două strategii de scriere, </a:t>
            </a:r>
            <a:r>
              <a:rPr b="1" lang="ro" sz="1200">
                <a:solidFill>
                  <a:srgbClr val="000000"/>
                </a:solidFill>
                <a:latin typeface="Arial"/>
                <a:ea typeface="Arial"/>
                <a:cs typeface="Arial"/>
                <a:sym typeface="Arial"/>
              </a:rPr>
              <a:t>WRITE-THROUGH</a:t>
            </a:r>
            <a:r>
              <a:rPr lang="ro" sz="1200">
                <a:solidFill>
                  <a:srgbClr val="000000"/>
                </a:solidFill>
                <a:latin typeface="Arial"/>
                <a:ea typeface="Arial"/>
                <a:cs typeface="Arial"/>
                <a:sym typeface="Arial"/>
              </a:rPr>
              <a:t> și </a:t>
            </a:r>
            <a:r>
              <a:rPr b="1" lang="ro" sz="1200">
                <a:solidFill>
                  <a:srgbClr val="000000"/>
                </a:solidFill>
                <a:latin typeface="Arial"/>
                <a:ea typeface="Arial"/>
                <a:cs typeface="Arial"/>
                <a:sym typeface="Arial"/>
              </a:rPr>
              <a:t>WRITE-BEHIND</a:t>
            </a:r>
            <a:r>
              <a:rPr lang="ro" sz="1200">
                <a:solidFill>
                  <a:srgbClr val="000000"/>
                </a:solidFill>
                <a:latin typeface="Arial"/>
                <a:ea typeface="Arial"/>
                <a:cs typeface="Arial"/>
                <a:sym typeface="Arial"/>
              </a:rPr>
              <a:t>, observând timpul de așteptare al clientului.</a:t>
            </a:r>
            <a:endParaRPr sz="1200">
              <a:solidFill>
                <a:srgbClr val="000000"/>
              </a:solidFill>
              <a:latin typeface="Arial"/>
              <a:ea typeface="Arial"/>
              <a:cs typeface="Arial"/>
              <a:sym typeface="Arial"/>
            </a:endParaRPr>
          </a:p>
          <a:p>
            <a:pPr indent="0" lvl="0" marL="0" rtl="0" algn="l">
              <a:spcBef>
                <a:spcPts val="1200"/>
              </a:spcBef>
              <a:spcAft>
                <a:spcPts val="1200"/>
              </a:spcAft>
              <a:buNone/>
            </a:pPr>
            <a:r>
              <a:rPr b="1" lang="ro" sz="1200">
                <a:solidFill>
                  <a:srgbClr val="000000"/>
                </a:solidFill>
                <a:latin typeface="Arial"/>
                <a:ea typeface="Arial"/>
                <a:cs typeface="Arial"/>
                <a:sym typeface="Arial"/>
              </a:rPr>
              <a:t>b) Infrastructura cloud simulată</a:t>
            </a:r>
            <a:r>
              <a:rPr lang="ro" sz="1200">
                <a:solidFill>
                  <a:srgbClr val="000000"/>
                </a:solidFill>
                <a:latin typeface="Arial"/>
                <a:ea typeface="Arial"/>
                <a:cs typeface="Arial"/>
                <a:sym typeface="Arial"/>
              </a:rPr>
              <a:t> Alegem aleatoriu 1000 de ID-uri între 5001 și 10000. Am ales să împărțim ID-urile în două părți egale pentru a ne asigura că la începutul testului niciunul dintre produse nu se află deja în Cache, caz care ar fi favorizat incorect rezultatele. În cazul simulării cloud, a fost stabilită artificial o latență de </a:t>
            </a:r>
            <a:r>
              <a:rPr b="1" lang="ro" sz="1200">
                <a:solidFill>
                  <a:srgbClr val="000000"/>
                </a:solidFill>
                <a:latin typeface="Arial"/>
                <a:ea typeface="Arial"/>
                <a:cs typeface="Arial"/>
                <a:sym typeface="Arial"/>
              </a:rPr>
              <a:t>50 de milisecunde</a:t>
            </a:r>
            <a:r>
              <a:rPr lang="ro" sz="1200">
                <a:solidFill>
                  <a:srgbClr val="000000"/>
                </a:solidFill>
                <a:latin typeface="Arial"/>
                <a:ea typeface="Arial"/>
                <a:cs typeface="Arial"/>
                <a:sym typeface="Arial"/>
              </a:rPr>
              <a:t> la fiecare interogare către baza de date MongoDB. După configurare, am continuat cu exact aceleași testări și comparații ca și în cazul infrastructurii locale.</a:t>
            </a:r>
            <a:endParaRPr sz="120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ph type="title"/>
          </p:nvPr>
        </p:nvSpPr>
        <p:spPr>
          <a:xfrm>
            <a:off x="262175" y="337050"/>
            <a:ext cx="2094900" cy="69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o"/>
              <a:t>Rezultate</a:t>
            </a:r>
            <a:endParaRPr/>
          </a:p>
        </p:txBody>
      </p:sp>
      <p:sp>
        <p:nvSpPr>
          <p:cNvPr id="201" name="Google Shape;201;p21"/>
          <p:cNvSpPr txBox="1"/>
          <p:nvPr>
            <p:ph idx="1" type="body"/>
          </p:nvPr>
        </p:nvSpPr>
        <p:spPr>
          <a:xfrm>
            <a:off x="193725" y="904075"/>
            <a:ext cx="4830900" cy="3810000"/>
          </a:xfrm>
          <a:prstGeom prst="rect">
            <a:avLst/>
          </a:prstGeom>
        </p:spPr>
        <p:txBody>
          <a:bodyPr anchorCtr="0" anchor="t" bIns="91425" lIns="91425" spcFirstLastPara="1" rIns="91425" wrap="square" tIns="91425">
            <a:normAutofit fontScale="62500" lnSpcReduction="20000"/>
          </a:bodyPr>
          <a:lstStyle/>
          <a:p>
            <a:pPr indent="-228600" lvl="0" marL="457200" rtl="0" algn="l">
              <a:spcBef>
                <a:spcPts val="1200"/>
              </a:spcBef>
              <a:spcAft>
                <a:spcPts val="0"/>
              </a:spcAft>
              <a:buNone/>
            </a:pPr>
            <a:r>
              <a:rPr b="1" lang="ro" sz="1200">
                <a:solidFill>
                  <a:srgbClr val="000000"/>
                </a:solidFill>
                <a:latin typeface="Arial"/>
                <a:ea typeface="Arial"/>
                <a:cs typeface="Arial"/>
                <a:sym typeface="Arial"/>
              </a:rPr>
              <a:t>Citire:</a:t>
            </a:r>
            <a:endParaRPr b="1" sz="1200">
              <a:solidFill>
                <a:srgbClr val="000000"/>
              </a:solidFill>
              <a:latin typeface="Arial"/>
              <a:ea typeface="Arial"/>
              <a:cs typeface="Arial"/>
              <a:sym typeface="Arial"/>
            </a:endParaRPr>
          </a:p>
          <a:p>
            <a:pPr indent="-276225" lvl="0" marL="457200" rtl="0" algn="l">
              <a:spcBef>
                <a:spcPts val="120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Cache MISS (MongoDB):</a:t>
            </a:r>
            <a:r>
              <a:rPr lang="ro" sz="1200">
                <a:solidFill>
                  <a:srgbClr val="000000"/>
                </a:solidFill>
                <a:latin typeface="Arial"/>
                <a:ea typeface="Arial"/>
                <a:cs typeface="Arial"/>
                <a:sym typeface="Arial"/>
              </a:rPr>
              <a:t> 13.01 ms</a:t>
            </a:r>
            <a:endParaRPr sz="1200">
              <a:solidFill>
                <a:srgbClr val="000000"/>
              </a:solidFill>
              <a:latin typeface="Arial"/>
              <a:ea typeface="Arial"/>
              <a:cs typeface="Arial"/>
              <a:sym typeface="Arial"/>
            </a:endParaRPr>
          </a:p>
          <a:p>
            <a:pPr indent="-276225" lvl="0" marL="457200" rtl="0" algn="l">
              <a:spcBef>
                <a:spcPts val="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Cache HIT (Redis):</a:t>
            </a:r>
            <a:r>
              <a:rPr lang="ro" sz="1200">
                <a:solidFill>
                  <a:srgbClr val="000000"/>
                </a:solidFill>
                <a:latin typeface="Arial"/>
                <a:ea typeface="Arial"/>
                <a:cs typeface="Arial"/>
                <a:sym typeface="Arial"/>
              </a:rPr>
              <a:t> 9.29 ms</a:t>
            </a:r>
            <a:endParaRPr sz="1200">
              <a:solidFill>
                <a:srgbClr val="000000"/>
              </a:solidFill>
              <a:latin typeface="Arial"/>
              <a:ea typeface="Arial"/>
              <a:cs typeface="Arial"/>
              <a:sym typeface="Arial"/>
            </a:endParaRPr>
          </a:p>
          <a:p>
            <a:pPr indent="-276225" lvl="0" marL="457200" rtl="0" algn="l">
              <a:spcBef>
                <a:spcPts val="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Interpretare:</a:t>
            </a:r>
            <a:r>
              <a:rPr lang="ro" sz="1200">
                <a:solidFill>
                  <a:srgbClr val="000000"/>
                </a:solidFill>
                <a:latin typeface="Arial"/>
                <a:ea typeface="Arial"/>
                <a:cs typeface="Arial"/>
                <a:sym typeface="Arial"/>
              </a:rPr>
              <a:t> Chiar și în absența latenței de rețea, Redis a oferit o îmbunătățire de aproximativ </a:t>
            </a:r>
            <a:r>
              <a:rPr b="1" lang="ro" sz="1200">
                <a:solidFill>
                  <a:srgbClr val="000000"/>
                </a:solidFill>
                <a:latin typeface="Arial"/>
                <a:ea typeface="Arial"/>
                <a:cs typeface="Arial"/>
                <a:sym typeface="Arial"/>
              </a:rPr>
              <a:t>30%</a:t>
            </a:r>
            <a:r>
              <a:rPr lang="ro" sz="1200">
                <a:solidFill>
                  <a:srgbClr val="000000"/>
                </a:solidFill>
                <a:latin typeface="Arial"/>
                <a:ea typeface="Arial"/>
                <a:cs typeface="Arial"/>
                <a:sym typeface="Arial"/>
              </a:rPr>
              <a:t>. Aceasta se datorează accesului direct la memoria RAM, care este ordine de mărime mai rapidă decât accesarea discului SSD necesară pentru MongoDB.</a:t>
            </a:r>
            <a:endParaRPr sz="1200">
              <a:solidFill>
                <a:srgbClr val="000000"/>
              </a:solidFill>
              <a:latin typeface="Arial"/>
              <a:ea typeface="Arial"/>
              <a:cs typeface="Arial"/>
              <a:sym typeface="Arial"/>
            </a:endParaRPr>
          </a:p>
          <a:p>
            <a:pPr indent="-228600" lvl="0" marL="457200" rtl="0" algn="l">
              <a:spcBef>
                <a:spcPts val="1200"/>
              </a:spcBef>
              <a:spcAft>
                <a:spcPts val="0"/>
              </a:spcAft>
              <a:buNone/>
            </a:pPr>
            <a:r>
              <a:rPr b="1" lang="ro" sz="1200">
                <a:solidFill>
                  <a:srgbClr val="000000"/>
                </a:solidFill>
                <a:latin typeface="Arial"/>
                <a:ea typeface="Arial"/>
                <a:cs typeface="Arial"/>
                <a:sym typeface="Arial"/>
              </a:rPr>
              <a:t>Scriere:</a:t>
            </a:r>
            <a:endParaRPr b="1" sz="1200">
              <a:solidFill>
                <a:srgbClr val="000000"/>
              </a:solidFill>
              <a:latin typeface="Arial"/>
              <a:ea typeface="Arial"/>
              <a:cs typeface="Arial"/>
              <a:sym typeface="Arial"/>
            </a:endParaRPr>
          </a:p>
          <a:p>
            <a:pPr indent="-276225" lvl="0" marL="457200" rtl="0" algn="l">
              <a:spcBef>
                <a:spcPts val="1200"/>
              </a:spcBef>
              <a:spcAft>
                <a:spcPts val="0"/>
              </a:spcAft>
              <a:buClr>
                <a:srgbClr val="000000"/>
              </a:buClr>
              <a:buSzPct val="100000"/>
              <a:buFont typeface="Arial"/>
              <a:buChar char="●"/>
            </a:pPr>
            <a:r>
              <a:rPr lang="ro" sz="1200">
                <a:solidFill>
                  <a:srgbClr val="000000"/>
                </a:solidFill>
                <a:latin typeface="Arial"/>
                <a:ea typeface="Arial"/>
                <a:cs typeface="Arial"/>
                <a:sym typeface="Arial"/>
              </a:rPr>
              <a:t>Strategiile </a:t>
            </a:r>
            <a:r>
              <a:rPr b="1" lang="ro" sz="1200">
                <a:solidFill>
                  <a:srgbClr val="000000"/>
                </a:solidFill>
                <a:latin typeface="Arial"/>
                <a:ea typeface="Arial"/>
                <a:cs typeface="Arial"/>
                <a:sym typeface="Arial"/>
              </a:rPr>
              <a:t>Write-Through</a:t>
            </a:r>
            <a:r>
              <a:rPr lang="ro" sz="1200">
                <a:solidFill>
                  <a:srgbClr val="000000"/>
                </a:solidFill>
                <a:latin typeface="Arial"/>
                <a:ea typeface="Arial"/>
                <a:cs typeface="Arial"/>
                <a:sym typeface="Arial"/>
              </a:rPr>
              <a:t> (16.82 ms) și </a:t>
            </a:r>
            <a:r>
              <a:rPr b="1" lang="ro" sz="1200">
                <a:solidFill>
                  <a:srgbClr val="000000"/>
                </a:solidFill>
                <a:latin typeface="Arial"/>
                <a:ea typeface="Arial"/>
                <a:cs typeface="Arial"/>
                <a:sym typeface="Arial"/>
              </a:rPr>
              <a:t>Write-Behind</a:t>
            </a:r>
            <a:r>
              <a:rPr lang="ro" sz="1200">
                <a:solidFill>
                  <a:srgbClr val="000000"/>
                </a:solidFill>
                <a:latin typeface="Arial"/>
                <a:ea typeface="Arial"/>
                <a:cs typeface="Arial"/>
                <a:sym typeface="Arial"/>
              </a:rPr>
              <a:t> (15.90 ms) au înregistrat timpi similari, deoarece scrierea locală în baza de date este extrem de rapidă, nepermițând strategiei asincrone să se diferențieze semnificativ.</a:t>
            </a:r>
            <a:endParaRPr sz="1200">
              <a:solidFill>
                <a:srgbClr val="000000"/>
              </a:solidFill>
              <a:latin typeface="Arial"/>
              <a:ea typeface="Arial"/>
              <a:cs typeface="Arial"/>
              <a:sym typeface="Arial"/>
            </a:endParaRPr>
          </a:p>
          <a:p>
            <a:pPr indent="-228600" lvl="0" marL="457200" rtl="0" algn="l">
              <a:spcBef>
                <a:spcPts val="1200"/>
              </a:spcBef>
              <a:spcAft>
                <a:spcPts val="0"/>
              </a:spcAft>
              <a:buNone/>
            </a:pPr>
            <a:r>
              <a:rPr b="1" lang="ro" sz="1200">
                <a:solidFill>
                  <a:srgbClr val="000000"/>
                </a:solidFill>
                <a:latin typeface="Arial"/>
                <a:ea typeface="Arial"/>
                <a:cs typeface="Arial"/>
                <a:sym typeface="Arial"/>
              </a:rPr>
              <a:t>Citire:</a:t>
            </a:r>
            <a:endParaRPr b="1" sz="1200">
              <a:solidFill>
                <a:srgbClr val="000000"/>
              </a:solidFill>
              <a:latin typeface="Arial"/>
              <a:ea typeface="Arial"/>
              <a:cs typeface="Arial"/>
              <a:sym typeface="Arial"/>
            </a:endParaRPr>
          </a:p>
          <a:p>
            <a:pPr indent="-276225" lvl="0" marL="457200" rtl="0" algn="l">
              <a:spcBef>
                <a:spcPts val="120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Cache MISS (MongoDB):</a:t>
            </a:r>
            <a:r>
              <a:rPr lang="ro" sz="1200">
                <a:solidFill>
                  <a:srgbClr val="000000"/>
                </a:solidFill>
                <a:latin typeface="Arial"/>
                <a:ea typeface="Arial"/>
                <a:cs typeface="Arial"/>
                <a:sym typeface="Arial"/>
              </a:rPr>
              <a:t> 64.63 ms (include latența de rețea).</a:t>
            </a:r>
            <a:endParaRPr sz="1200">
              <a:solidFill>
                <a:srgbClr val="000000"/>
              </a:solidFill>
              <a:latin typeface="Arial"/>
              <a:ea typeface="Arial"/>
              <a:cs typeface="Arial"/>
              <a:sym typeface="Arial"/>
            </a:endParaRPr>
          </a:p>
          <a:p>
            <a:pPr indent="-276225" lvl="0" marL="457200" rtl="0" algn="l">
              <a:spcBef>
                <a:spcPts val="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Cache HIT (Redis):</a:t>
            </a:r>
            <a:r>
              <a:rPr lang="ro" sz="1200">
                <a:solidFill>
                  <a:srgbClr val="000000"/>
                </a:solidFill>
                <a:latin typeface="Arial"/>
                <a:ea typeface="Arial"/>
                <a:cs typeface="Arial"/>
                <a:sym typeface="Arial"/>
              </a:rPr>
              <a:t> 10.48 ms.</a:t>
            </a:r>
            <a:endParaRPr sz="1200">
              <a:solidFill>
                <a:srgbClr val="000000"/>
              </a:solidFill>
              <a:latin typeface="Arial"/>
              <a:ea typeface="Arial"/>
              <a:cs typeface="Arial"/>
              <a:sym typeface="Arial"/>
            </a:endParaRPr>
          </a:p>
          <a:p>
            <a:pPr indent="-276225" lvl="0" marL="457200" rtl="0" algn="l">
              <a:spcBef>
                <a:spcPts val="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Interpretare:</a:t>
            </a:r>
            <a:r>
              <a:rPr lang="ro" sz="1200">
                <a:solidFill>
                  <a:srgbClr val="000000"/>
                </a:solidFill>
                <a:latin typeface="Arial"/>
                <a:ea typeface="Arial"/>
                <a:cs typeface="Arial"/>
                <a:sym typeface="Arial"/>
              </a:rPr>
              <a:t> Utilizarea Redis a redus timpul de răspuns de </a:t>
            </a:r>
            <a:r>
              <a:rPr b="1" lang="ro" sz="1200">
                <a:solidFill>
                  <a:srgbClr val="000000"/>
                </a:solidFill>
                <a:latin typeface="Arial"/>
                <a:ea typeface="Arial"/>
                <a:cs typeface="Arial"/>
                <a:sym typeface="Arial"/>
              </a:rPr>
              <a:t>6.1 ori</a:t>
            </a:r>
            <a:r>
              <a:rPr lang="ro" sz="1200">
                <a:solidFill>
                  <a:srgbClr val="000000"/>
                </a:solidFill>
                <a:latin typeface="Arial"/>
                <a:ea typeface="Arial"/>
                <a:cs typeface="Arial"/>
                <a:sym typeface="Arial"/>
              </a:rPr>
              <a:t>. Deoarece datele sunt servite din memoria cache locală (sau apropiată de aplicație), latența rețelei către baza de date este complet eliminată pentru utilizatorul final.</a:t>
            </a:r>
            <a:endParaRPr sz="1200">
              <a:solidFill>
                <a:srgbClr val="000000"/>
              </a:solidFill>
              <a:latin typeface="Arial"/>
              <a:ea typeface="Arial"/>
              <a:cs typeface="Arial"/>
              <a:sym typeface="Arial"/>
            </a:endParaRPr>
          </a:p>
          <a:p>
            <a:pPr indent="-228600" lvl="0" marL="457200" rtl="0" algn="l">
              <a:spcBef>
                <a:spcPts val="1200"/>
              </a:spcBef>
              <a:spcAft>
                <a:spcPts val="0"/>
              </a:spcAft>
              <a:buNone/>
            </a:pPr>
            <a:r>
              <a:rPr b="1" lang="ro" sz="1200">
                <a:solidFill>
                  <a:srgbClr val="000000"/>
                </a:solidFill>
                <a:latin typeface="Arial"/>
                <a:ea typeface="Arial"/>
                <a:cs typeface="Arial"/>
                <a:sym typeface="Arial"/>
              </a:rPr>
              <a:t>Scriere:</a:t>
            </a:r>
            <a:endParaRPr b="1" sz="1200">
              <a:solidFill>
                <a:srgbClr val="000000"/>
              </a:solidFill>
              <a:latin typeface="Arial"/>
              <a:ea typeface="Arial"/>
              <a:cs typeface="Arial"/>
              <a:sym typeface="Arial"/>
            </a:endParaRPr>
          </a:p>
          <a:p>
            <a:pPr indent="-276225" lvl="0" marL="457200" rtl="0" algn="l">
              <a:spcBef>
                <a:spcPts val="120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Write-Through:</a:t>
            </a:r>
            <a:r>
              <a:rPr lang="ro" sz="1200">
                <a:solidFill>
                  <a:srgbClr val="000000"/>
                </a:solidFill>
                <a:latin typeface="Arial"/>
                <a:ea typeface="Arial"/>
                <a:cs typeface="Arial"/>
                <a:sym typeface="Arial"/>
              </a:rPr>
              <a:t> 72.11 ms. Această strategie cumulează latența rețelei și timpul de scriere pe disc, fiind cea mai lentă, dar cea mai sigură metodă.</a:t>
            </a:r>
            <a:endParaRPr sz="1200">
              <a:solidFill>
                <a:srgbClr val="000000"/>
              </a:solidFill>
              <a:latin typeface="Arial"/>
              <a:ea typeface="Arial"/>
              <a:cs typeface="Arial"/>
              <a:sym typeface="Arial"/>
            </a:endParaRPr>
          </a:p>
          <a:p>
            <a:pPr indent="-276225" lvl="0" marL="457200" rtl="0" algn="l">
              <a:spcBef>
                <a:spcPts val="0"/>
              </a:spcBef>
              <a:spcAft>
                <a:spcPts val="0"/>
              </a:spcAft>
              <a:buClr>
                <a:srgbClr val="000000"/>
              </a:buClr>
              <a:buSzPct val="100000"/>
              <a:buFont typeface="Arial"/>
              <a:buChar char="●"/>
            </a:pPr>
            <a:r>
              <a:rPr b="1" lang="ro" sz="1200">
                <a:solidFill>
                  <a:srgbClr val="000000"/>
                </a:solidFill>
                <a:latin typeface="Arial"/>
                <a:ea typeface="Arial"/>
                <a:cs typeface="Arial"/>
                <a:sym typeface="Arial"/>
              </a:rPr>
              <a:t>Write-Behind:</a:t>
            </a:r>
            <a:r>
              <a:rPr lang="ro" sz="1200">
                <a:solidFill>
                  <a:srgbClr val="000000"/>
                </a:solidFill>
                <a:latin typeface="Arial"/>
                <a:ea typeface="Arial"/>
                <a:cs typeface="Arial"/>
                <a:sym typeface="Arial"/>
              </a:rPr>
              <a:t> 16.23 ms. Fiind o strategie asincronă, aceasta a fost de </a:t>
            </a:r>
            <a:r>
              <a:rPr b="1" lang="ro" sz="1200">
                <a:solidFill>
                  <a:srgbClr val="000000"/>
                </a:solidFill>
                <a:latin typeface="Arial"/>
                <a:ea typeface="Arial"/>
                <a:cs typeface="Arial"/>
                <a:sym typeface="Arial"/>
              </a:rPr>
              <a:t>4.4 ori mai rapidă</a:t>
            </a:r>
            <a:r>
              <a:rPr lang="ro" sz="1200">
                <a:solidFill>
                  <a:srgbClr val="000000"/>
                </a:solidFill>
                <a:latin typeface="Arial"/>
                <a:ea typeface="Arial"/>
                <a:cs typeface="Arial"/>
                <a:sym typeface="Arial"/>
              </a:rPr>
              <a:t> decât Write-Through. Clientul primește confirmarea imediat după scrierea în Redis, în timp ce sincronizarea cu MongoDB are loc în fundal, fără a bloca experiența utilizatorului.</a:t>
            </a:r>
            <a:endParaRPr/>
          </a:p>
        </p:txBody>
      </p:sp>
      <p:pic>
        <p:nvPicPr>
          <p:cNvPr id="202" name="Google Shape;202;p21"/>
          <p:cNvPicPr preferRelativeResize="0"/>
          <p:nvPr/>
        </p:nvPicPr>
        <p:blipFill>
          <a:blip r:embed="rId3">
            <a:alphaModFix/>
          </a:blip>
          <a:stretch>
            <a:fillRect/>
          </a:stretch>
        </p:blipFill>
        <p:spPr>
          <a:xfrm>
            <a:off x="4940075" y="997450"/>
            <a:ext cx="3895574" cy="1654050"/>
          </a:xfrm>
          <a:prstGeom prst="rect">
            <a:avLst/>
          </a:prstGeom>
          <a:noFill/>
          <a:ln>
            <a:noFill/>
          </a:ln>
        </p:spPr>
      </p:pic>
      <p:pic>
        <p:nvPicPr>
          <p:cNvPr id="203" name="Google Shape;203;p21"/>
          <p:cNvPicPr preferRelativeResize="0"/>
          <p:nvPr/>
        </p:nvPicPr>
        <p:blipFill>
          <a:blip r:embed="rId4">
            <a:alphaModFix/>
          </a:blip>
          <a:stretch>
            <a:fillRect/>
          </a:stretch>
        </p:blipFill>
        <p:spPr>
          <a:xfrm>
            <a:off x="4940075" y="2708650"/>
            <a:ext cx="3895576" cy="1655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o"/>
              <a:t>Concluzii Finale</a:t>
            </a:r>
            <a:endParaRPr/>
          </a:p>
        </p:txBody>
      </p:sp>
      <p:sp>
        <p:nvSpPr>
          <p:cNvPr id="209" name="Google Shape;209;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o">
                <a:latin typeface="Arial"/>
                <a:ea typeface="Arial"/>
                <a:cs typeface="Arial"/>
                <a:sym typeface="Arial"/>
              </a:rPr>
              <a:t>În concluzie, stratul de caching devine critic pe măsură ce latența rețelei crește sau baza de date principală devine un bottleneck sub presiunea unui volum ridicat de cereri simultane.</a:t>
            </a:r>
            <a:endParaRPr>
              <a:latin typeface="Arial"/>
              <a:ea typeface="Arial"/>
              <a:cs typeface="Arial"/>
              <a:sym typeface="Arial"/>
            </a:endParaRPr>
          </a:p>
          <a:p>
            <a:pPr indent="0" lvl="0" marL="0" rtl="0" algn="l">
              <a:spcBef>
                <a:spcPts val="1200"/>
              </a:spcBef>
              <a:spcAft>
                <a:spcPts val="0"/>
              </a:spcAft>
              <a:buNone/>
            </a:pPr>
            <a:r>
              <a:rPr lang="ro">
                <a:latin typeface="Arial"/>
                <a:ea typeface="Arial"/>
                <a:cs typeface="Arial"/>
                <a:sym typeface="Arial"/>
              </a:rPr>
              <a:t>Eficiența Strategiilor:</a:t>
            </a:r>
            <a:endParaRPr>
              <a:latin typeface="Arial"/>
              <a:ea typeface="Arial"/>
              <a:cs typeface="Arial"/>
              <a:sym typeface="Arial"/>
            </a:endParaRPr>
          </a:p>
          <a:p>
            <a:pPr indent="-311150" lvl="0" marL="457200" rtl="0" algn="l">
              <a:spcBef>
                <a:spcPts val="1200"/>
              </a:spcBef>
              <a:spcAft>
                <a:spcPts val="0"/>
              </a:spcAft>
              <a:buSzPts val="1300"/>
              <a:buFont typeface="Arial"/>
              <a:buChar char="●"/>
            </a:pPr>
            <a:r>
              <a:rPr lang="ro">
                <a:latin typeface="Arial"/>
                <a:ea typeface="Arial"/>
                <a:cs typeface="Arial"/>
                <a:sym typeface="Arial"/>
              </a:rPr>
              <a:t>Cache-Aside: Elimină latența repetitivă de citire din baza de date persistentă.</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ro">
                <a:latin typeface="Arial"/>
                <a:ea typeface="Arial"/>
                <a:cs typeface="Arial"/>
                <a:sym typeface="Arial"/>
              </a:rPr>
              <a:t>Write-Through: Sacrifică viteza pentru integritatea datelor esențiale.</a:t>
            </a:r>
            <a:endParaRPr>
              <a:latin typeface="Arial"/>
              <a:ea typeface="Arial"/>
              <a:cs typeface="Arial"/>
              <a:sym typeface="Arial"/>
            </a:endParaRPr>
          </a:p>
          <a:p>
            <a:pPr indent="-311150" lvl="0" marL="457200" rtl="0" algn="l">
              <a:spcBef>
                <a:spcPts val="0"/>
              </a:spcBef>
              <a:spcAft>
                <a:spcPts val="0"/>
              </a:spcAft>
              <a:buSzPts val="1300"/>
              <a:buFont typeface="Arial"/>
              <a:buChar char="●"/>
            </a:pPr>
            <a:r>
              <a:rPr lang="ro">
                <a:latin typeface="Arial"/>
                <a:ea typeface="Arial"/>
                <a:cs typeface="Arial"/>
                <a:sym typeface="Arial"/>
              </a:rPr>
              <a:t>Write-Behind: Oferă o experiență fluidă, ideală pentru metrici de volum mare.</a:t>
            </a:r>
            <a:br>
              <a:rPr lang="ro">
                <a:latin typeface="Arial"/>
                <a:ea typeface="Arial"/>
                <a:cs typeface="Arial"/>
                <a:sym typeface="Arial"/>
              </a:rPr>
            </a:b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